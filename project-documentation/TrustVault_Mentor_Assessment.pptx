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mentors. Today I am presenting TrustVault, an enterprise-grade document vault engineered around Zero-Trust security and Data Custodianship. It guarantees live server-side authorization, instant permission revocation, private 60-second storage URLs, and an immutable SHA-256 cryptographic audit chain.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identified 4 major enterprise flaws: IDOR vulnerabilities allowing users to guess IDs, zombie access where terminated users can still download cached files, audit log tampering where SQL logs can be wiped, and polyglot files where malware is renamed to PDF. TrustVault solves each of these.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TrustVault is anchored by three unbreakable rules: Rule 1 mandates live DB authorization on every request thread. Rule 2 guarantees instant revocation taking effect in milliseconds. Rule 3 ensures completely private storage with 60-second ephemeral links.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tech stack unifies Next.js 14 App Router, TypeScript, and Prisma ORM. We use jose for HttpOnly JWT session cookies, bcryptjs for password security, and Node's crypto library for SHA-256 hash chaining. Everything is tested with Vitest.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Requests flow through three distinct security boundaries: first session validation, second live database authorization via verifyDocumentAccess, and third private storage generation with simultaneous cryptographic audit chaining.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enforce strict Separation of Duties. The Owner is the data sovereign. The Admin manages platform health and verifies the audit chain, but CANNOT inspect or share an Owner's private files without explicit database permission from that Owner.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audit trail functions like an internal blockchain. Each log entry is hashed using SHA-256 with the previous record's hash. If someone alters a past record in the database, the chain breaks, and our Verifier immediately flags the corrupted record UUID.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don't trust file extensions. The server reads the first 8 bytes of the binary buffer. If a Windows executable starting with 'MZ' is renamed to 'invoice.pdf', our magic byte sniffer flags the mismatch and rejects the upload before it touches storage.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Owners and Admins have access to Audit Logs and Reports. Owners see activity strictly for their documents. Admins see global metrics without seeing confidential file bodies. Downloads are tracked in two distinct phases.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AI assistant helps Owners pick suitable reviewers under least privilege. However, to prevent AI Excessive Agency, the AI has zero write permissions to the database. The Owner must review and confirm suggestions. Both the proposal and human confirmation are permanently audited.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security rules are proven by 36 automated tests running in Vitest with a 100% pass rate. We also built an interactive quick-switcher in the navigation header so mentors can test IDOR blocking and instant revocation live.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full engineering transparency, our write mutex currently runs in-process, which works for single-node setups. For multi-node cloud clusters, we plan to implement distributed Redis locks and in-browser client-side envelope encryption.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TrustVault proves that Zero-Trust document security can be fast, reliable, and user-friendly. By combining Data Custodianship, ephemeral URLs, and cryptographic hash chaining, we created a vault that protects enterprise data against IDOR leaks, zombie access, and log tampering.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828800"/>
            <a:ext cx="10332720" cy="1371600"/>
          </a:xfrm>
          <a:prstGeom prst="rect">
            <a:avLst/>
          </a:prstGeom>
          <a:noFill/>
        </p:spPr>
        <p:txBody>
          <a:bodyPr wrap="square">
            <a:spAutoFit/>
          </a:bodyPr>
          <a:lstStyle/>
          <a:p>
            <a:pPr>
              <a:defRPr sz="4800" b="1">
                <a:solidFill>
                  <a:srgbClr val="10B981"/>
                </a:solidFill>
              </a:defRPr>
            </a:pPr>
            <a:r>
              <a:t>TrustVault 🛡️</a:t>
            </a:r>
          </a:p>
        </p:txBody>
      </p:sp>
      <p:sp>
        <p:nvSpPr>
          <p:cNvPr id="4" name="TextBox 3"/>
          <p:cNvSpPr txBox="1"/>
          <p:nvPr/>
        </p:nvSpPr>
        <p:spPr>
          <a:xfrm>
            <a:off x="914400" y="3291840"/>
            <a:ext cx="10332720" cy="914400"/>
          </a:xfrm>
          <a:prstGeom prst="rect">
            <a:avLst/>
          </a:prstGeom>
          <a:noFill/>
        </p:spPr>
        <p:txBody>
          <a:bodyPr wrap="square">
            <a:spAutoFit/>
          </a:bodyPr>
          <a:lstStyle/>
          <a:p>
            <a:pPr>
              <a:defRPr sz="2200">
                <a:solidFill>
                  <a:srgbClr val="F1F5F9"/>
                </a:solidFill>
              </a:defRPr>
            </a:pPr>
            <a:r>
              <a:t>Production-Ready, Ultra-Secure Document Vault with Cryptographic Audit Chaining</a:t>
            </a:r>
          </a:p>
        </p:txBody>
      </p:sp>
      <p:sp>
        <p:nvSpPr>
          <p:cNvPr id="5" name="TextBox 4"/>
          <p:cNvSpPr txBox="1"/>
          <p:nvPr/>
        </p:nvSpPr>
        <p:spPr>
          <a:xfrm>
            <a:off x="914400" y="4754880"/>
            <a:ext cx="10332720" cy="731520"/>
          </a:xfrm>
          <a:prstGeom prst="rect">
            <a:avLst/>
          </a:prstGeom>
          <a:noFill/>
        </p:spPr>
        <p:txBody>
          <a:bodyPr wrap="square">
            <a:spAutoFit/>
          </a:bodyPr>
          <a:lstStyle/>
          <a:p>
            <a:pPr>
              <a:defRPr sz="1400">
                <a:solidFill>
                  <a:srgbClr val="94A3B8"/>
                </a:solidFill>
              </a:defRPr>
            </a:pPr>
            <a:r>
              <a:t>Final Year Technical Assessment Presentation • Department of Information Technology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000" b="1">
                <a:solidFill>
                  <a:srgbClr val="10B981"/>
                </a:solidFill>
              </a:defRPr>
            </a:pPr>
            <a:r>
              <a:t>PROBLEM STATEMENT &amp; MOTIVATION</a:t>
            </a:r>
          </a:p>
        </p:txBody>
      </p:sp>
      <p:sp>
        <p:nvSpPr>
          <p:cNvPr id="4" name="TextBox 3"/>
          <p:cNvSpPr txBox="1"/>
          <p:nvPr/>
        </p:nvSpPr>
        <p:spPr>
          <a:xfrm>
            <a:off x="731520" y="640080"/>
            <a:ext cx="10698480" cy="731520"/>
          </a:xfrm>
          <a:prstGeom prst="rect">
            <a:avLst/>
          </a:prstGeom>
          <a:noFill/>
        </p:spPr>
        <p:txBody>
          <a:bodyPr wrap="square">
            <a:spAutoFit/>
          </a:bodyPr>
          <a:lstStyle/>
          <a:p>
            <a:pPr>
              <a:defRPr sz="2600" b="1">
                <a:solidFill>
                  <a:srgbClr val="F1F5F9"/>
                </a:solidFill>
              </a:defRPr>
            </a:pPr>
            <a:r>
              <a:t>Vulnerabilities in Conventional Document Platforms</a:t>
            </a:r>
          </a:p>
        </p:txBody>
      </p:sp>
      <p:sp>
        <p:nvSpPr>
          <p:cNvPr id="5" name="Rounded Rectangle 4"/>
          <p:cNvSpPr/>
          <p:nvPr/>
        </p:nvSpPr>
        <p:spPr>
          <a:xfrm>
            <a:off x="731520" y="1645920"/>
            <a:ext cx="3291840" cy="4389120"/>
          </a:xfrm>
          <a:prstGeom prst="roundRect">
            <a:avLst/>
          </a:prstGeom>
          <a:solidFill>
            <a:srgbClr val="141C2D"/>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2834640" cy="411480"/>
          </a:xfrm>
          <a:prstGeom prst="rect">
            <a:avLst/>
          </a:prstGeom>
          <a:noFill/>
        </p:spPr>
        <p:txBody>
          <a:bodyPr wrap="square">
            <a:spAutoFit/>
          </a:bodyPr>
          <a:lstStyle/>
          <a:p>
            <a:pPr>
              <a:defRPr sz="1600" b="1">
                <a:solidFill>
                  <a:srgbClr val="F43F5E"/>
                </a:solidFill>
              </a:defRPr>
            </a:pPr>
            <a:r>
              <a:t>Broken Access &amp; IDOR</a:t>
            </a:r>
          </a:p>
        </p:txBody>
      </p:sp>
      <p:sp>
        <p:nvSpPr>
          <p:cNvPr id="7" name="TextBox 6"/>
          <p:cNvSpPr txBox="1"/>
          <p:nvPr/>
        </p:nvSpPr>
        <p:spPr>
          <a:xfrm>
            <a:off x="960120" y="2286000"/>
            <a:ext cx="2834640" cy="3611879"/>
          </a:xfrm>
          <a:prstGeom prst="rect">
            <a:avLst/>
          </a:prstGeom>
          <a:noFill/>
        </p:spPr>
        <p:txBody>
          <a:bodyPr wrap="square" tIns="0" lIns="0" rIns="0" bIns="0">
            <a:spAutoFit/>
          </a:bodyPr>
          <a:lstStyle/>
          <a:p>
            <a:pPr>
              <a:spcAft>
                <a:spcPts val="800"/>
              </a:spcAft>
              <a:defRPr sz="1200">
                <a:solidFill>
                  <a:srgbClr val="94A3B8"/>
                </a:solidFill>
              </a:defRPr>
            </a:pPr>
            <a:r>
              <a:t>•  Predictable document IDs in URLs allow unauthorized users to probe classified files (OWASP Top 10 #1).</a:t>
            </a:r>
          </a:p>
          <a:p>
            <a:pPr>
              <a:spcAft>
                <a:spcPts val="800"/>
              </a:spcAft>
              <a:defRPr sz="1200">
                <a:solidFill>
                  <a:srgbClr val="94A3B8"/>
                </a:solidFill>
              </a:defRPr>
            </a:pPr>
            <a:r>
              <a:t>•  Client-side or cached permission checks fail to prevent malicious URL parameter manipulation.</a:t>
            </a:r>
          </a:p>
          <a:p>
            <a:pPr>
              <a:spcAft>
                <a:spcPts val="800"/>
              </a:spcAft>
              <a:defRPr sz="1200">
                <a:solidFill>
                  <a:srgbClr val="94A3B8"/>
                </a:solidFill>
              </a:defRPr>
            </a:pPr>
            <a:r>
              <a:t>•  Direct Object Reference flaws lead to catastrophic enterprise data leaks.</a:t>
            </a:r>
          </a:p>
        </p:txBody>
      </p:sp>
      <p:sp>
        <p:nvSpPr>
          <p:cNvPr id="8" name="Rounded Rectangle 7"/>
          <p:cNvSpPr/>
          <p:nvPr/>
        </p:nvSpPr>
        <p:spPr>
          <a:xfrm>
            <a:off x="4389120" y="1645920"/>
            <a:ext cx="3291840" cy="4389120"/>
          </a:xfrm>
          <a:prstGeom prst="roundRect">
            <a:avLst/>
          </a:prstGeom>
          <a:solidFill>
            <a:srgbClr val="141C2D"/>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17720" y="1828800"/>
            <a:ext cx="2834640" cy="411480"/>
          </a:xfrm>
          <a:prstGeom prst="rect">
            <a:avLst/>
          </a:prstGeom>
          <a:noFill/>
        </p:spPr>
        <p:txBody>
          <a:bodyPr wrap="square">
            <a:spAutoFit/>
          </a:bodyPr>
          <a:lstStyle/>
          <a:p>
            <a:pPr>
              <a:defRPr sz="1600" b="1">
                <a:solidFill>
                  <a:srgbClr val="F43F5E"/>
                </a:solidFill>
              </a:defRPr>
            </a:pPr>
            <a:r>
              <a:t>Zombie Access Latency</a:t>
            </a:r>
          </a:p>
        </p:txBody>
      </p:sp>
      <p:sp>
        <p:nvSpPr>
          <p:cNvPr id="10" name="TextBox 9"/>
          <p:cNvSpPr txBox="1"/>
          <p:nvPr/>
        </p:nvSpPr>
        <p:spPr>
          <a:xfrm>
            <a:off x="4617720" y="2286000"/>
            <a:ext cx="2834640" cy="3611879"/>
          </a:xfrm>
          <a:prstGeom prst="rect">
            <a:avLst/>
          </a:prstGeom>
          <a:noFill/>
        </p:spPr>
        <p:txBody>
          <a:bodyPr wrap="square" tIns="0" lIns="0" rIns="0" bIns="0">
            <a:spAutoFit/>
          </a:bodyPr>
          <a:lstStyle/>
          <a:p>
            <a:pPr>
              <a:spcAft>
                <a:spcPts val="800"/>
              </a:spcAft>
              <a:defRPr sz="1200">
                <a:solidFill>
                  <a:srgbClr val="94A3B8"/>
                </a:solidFill>
              </a:defRPr>
            </a:pPr>
            <a:r>
              <a:t>•  Terminated employees or vendors retain access for hours due to stale distributed caching (Redis/CDN).</a:t>
            </a:r>
          </a:p>
          <a:p>
            <a:pPr>
              <a:spcAft>
                <a:spcPts val="800"/>
              </a:spcAft>
              <a:defRPr sz="1200">
                <a:solidFill>
                  <a:srgbClr val="94A3B8"/>
                </a:solidFill>
              </a:defRPr>
            </a:pPr>
            <a:r>
              <a:t>•  Token-based authorization windows leave broad vulnerability gaps during access revocation.</a:t>
            </a:r>
          </a:p>
          <a:p>
            <a:pPr>
              <a:spcAft>
                <a:spcPts val="800"/>
              </a:spcAft>
              <a:defRPr sz="1200">
                <a:solidFill>
                  <a:srgbClr val="94A3B8"/>
                </a:solidFill>
              </a:defRPr>
            </a:pPr>
            <a:r>
              <a:t>•  Lack of zero-delay permission deletion exposes active business transactions.</a:t>
            </a:r>
          </a:p>
        </p:txBody>
      </p:sp>
      <p:sp>
        <p:nvSpPr>
          <p:cNvPr id="11" name="Rounded Rectangle 10"/>
          <p:cNvSpPr/>
          <p:nvPr/>
        </p:nvSpPr>
        <p:spPr>
          <a:xfrm>
            <a:off x="8046720" y="1645920"/>
            <a:ext cx="3291840" cy="4389120"/>
          </a:xfrm>
          <a:prstGeom prst="roundRect">
            <a:avLst/>
          </a:prstGeom>
          <a:solidFill>
            <a:srgbClr val="141C2D"/>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75320" y="1828800"/>
            <a:ext cx="2834640" cy="411480"/>
          </a:xfrm>
          <a:prstGeom prst="rect">
            <a:avLst/>
          </a:prstGeom>
          <a:noFill/>
        </p:spPr>
        <p:txBody>
          <a:bodyPr wrap="square">
            <a:spAutoFit/>
          </a:bodyPr>
          <a:lstStyle/>
          <a:p>
            <a:pPr>
              <a:defRPr sz="1600" b="1">
                <a:solidFill>
                  <a:srgbClr val="F43F5E"/>
                </a:solidFill>
              </a:defRPr>
            </a:pPr>
            <a:r>
              <a:t>Audit Tampering &amp; Polyglots</a:t>
            </a:r>
          </a:p>
        </p:txBody>
      </p:sp>
      <p:sp>
        <p:nvSpPr>
          <p:cNvPr id="13" name="TextBox 12"/>
          <p:cNvSpPr txBox="1"/>
          <p:nvPr/>
        </p:nvSpPr>
        <p:spPr>
          <a:xfrm>
            <a:off x="8275320" y="2286000"/>
            <a:ext cx="2834640" cy="3611879"/>
          </a:xfrm>
          <a:prstGeom prst="rect">
            <a:avLst/>
          </a:prstGeom>
          <a:noFill/>
        </p:spPr>
        <p:txBody>
          <a:bodyPr wrap="square" tIns="0" lIns="0" rIns="0" bIns="0">
            <a:spAutoFit/>
          </a:bodyPr>
          <a:lstStyle/>
          <a:p>
            <a:pPr>
              <a:spcAft>
                <a:spcPts val="800"/>
              </a:spcAft>
              <a:defRPr sz="1200">
                <a:solidFill>
                  <a:srgbClr val="94A3B8"/>
                </a:solidFill>
              </a:defRPr>
            </a:pPr>
            <a:r>
              <a:t>•  Database audit logs are stored in plain SQL tables that DBAs or compromised accounts can alter or delete.</a:t>
            </a:r>
          </a:p>
          <a:p>
            <a:pPr>
              <a:spcAft>
                <a:spcPts val="800"/>
              </a:spcAft>
              <a:defRPr sz="1200">
                <a:solidFill>
                  <a:srgbClr val="94A3B8"/>
                </a:solidFill>
              </a:defRPr>
            </a:pPr>
            <a:r>
              <a:t>•  Attackers rename Windows executables (.exe) to .pdf, bypassing simple extension whitelists.</a:t>
            </a:r>
          </a:p>
          <a:p>
            <a:pPr>
              <a:spcAft>
                <a:spcPts val="800"/>
              </a:spcAft>
              <a:defRPr sz="1200">
                <a:solidFill>
                  <a:srgbClr val="94A3B8"/>
                </a:solidFill>
              </a:defRPr>
            </a:pPr>
            <a:r>
              <a:t>•  No mathematical guarantee exists to prove forensic log integrity.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000" b="1">
                <a:solidFill>
                  <a:srgbClr val="10B981"/>
                </a:solidFill>
              </a:defRPr>
            </a:pPr>
            <a:r>
              <a:t>PROJECT OBJECTIVES &amp; CORE PILLARS</a:t>
            </a:r>
          </a:p>
        </p:txBody>
      </p:sp>
      <p:sp>
        <p:nvSpPr>
          <p:cNvPr id="4" name="TextBox 3"/>
          <p:cNvSpPr txBox="1"/>
          <p:nvPr/>
        </p:nvSpPr>
        <p:spPr>
          <a:xfrm>
            <a:off x="731520" y="640080"/>
            <a:ext cx="10698480" cy="731520"/>
          </a:xfrm>
          <a:prstGeom prst="rect">
            <a:avLst/>
          </a:prstGeom>
          <a:noFill/>
        </p:spPr>
        <p:txBody>
          <a:bodyPr wrap="square">
            <a:spAutoFit/>
          </a:bodyPr>
          <a:lstStyle/>
          <a:p>
            <a:pPr>
              <a:defRPr sz="2600" b="1">
                <a:solidFill>
                  <a:srgbClr val="F1F5F9"/>
                </a:solidFill>
              </a:defRPr>
            </a:pPr>
            <a:r>
              <a:t>The Three Zero-Leak Rules of TrustVault</a:t>
            </a:r>
          </a:p>
        </p:txBody>
      </p:sp>
      <p:sp>
        <p:nvSpPr>
          <p:cNvPr id="5" name="Rounded Rectangle 4"/>
          <p:cNvSpPr/>
          <p:nvPr/>
        </p:nvSpPr>
        <p:spPr>
          <a:xfrm>
            <a:off x="731520" y="1645920"/>
            <a:ext cx="3291840" cy="4389120"/>
          </a:xfrm>
          <a:prstGeom prst="roundRect">
            <a:avLst/>
          </a:prstGeom>
          <a:solidFill>
            <a:srgbClr val="141C2D"/>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2834640" cy="411480"/>
          </a:xfrm>
          <a:prstGeom prst="rect">
            <a:avLst/>
          </a:prstGeom>
          <a:noFill/>
        </p:spPr>
        <p:txBody>
          <a:bodyPr wrap="square">
            <a:spAutoFit/>
          </a:bodyPr>
          <a:lstStyle/>
          <a:p>
            <a:pPr>
              <a:defRPr sz="1600" b="1">
                <a:solidFill>
                  <a:srgbClr val="10B981"/>
                </a:solidFill>
              </a:defRPr>
            </a:pPr>
            <a:r>
              <a:t>Rule 1: Live DB Authorization</a:t>
            </a:r>
          </a:p>
        </p:txBody>
      </p:sp>
      <p:sp>
        <p:nvSpPr>
          <p:cNvPr id="7" name="TextBox 6"/>
          <p:cNvSpPr txBox="1"/>
          <p:nvPr/>
        </p:nvSpPr>
        <p:spPr>
          <a:xfrm>
            <a:off x="960120" y="2286000"/>
            <a:ext cx="2834640" cy="3611879"/>
          </a:xfrm>
          <a:prstGeom prst="rect">
            <a:avLst/>
          </a:prstGeom>
          <a:noFill/>
        </p:spPr>
        <p:txBody>
          <a:bodyPr wrap="square" tIns="0" lIns="0" rIns="0" bIns="0">
            <a:spAutoFit/>
          </a:bodyPr>
          <a:lstStyle/>
          <a:p>
            <a:pPr>
              <a:spcAft>
                <a:spcPts val="800"/>
              </a:spcAft>
              <a:defRPr sz="1200">
                <a:solidFill>
                  <a:srgbClr val="94A3B8"/>
                </a:solidFill>
              </a:defRPr>
            </a:pPr>
            <a:r>
              <a:t>•  Zero client-side trust. Every GET, VIEW, and DOWNLOAD checks active permissions on the server thread.</a:t>
            </a:r>
          </a:p>
          <a:p>
            <a:pPr>
              <a:spcAft>
                <a:spcPts val="800"/>
              </a:spcAft>
              <a:defRPr sz="1200">
                <a:solidFill>
                  <a:srgbClr val="94A3B8"/>
                </a:solidFill>
              </a:defRPr>
            </a:pPr>
            <a:r>
              <a:t>•  Direct database lookup in prisma.documentPermission.</a:t>
            </a:r>
          </a:p>
          <a:p>
            <a:pPr>
              <a:spcAft>
                <a:spcPts val="800"/>
              </a:spcAft>
              <a:defRPr sz="1200">
                <a:solidFill>
                  <a:srgbClr val="94A3B8"/>
                </a:solidFill>
              </a:defRPr>
            </a:pPr>
            <a:r>
              <a:t>•  Unauthorized probes are immediately halted (403) and logged as security incidents.</a:t>
            </a:r>
          </a:p>
        </p:txBody>
      </p:sp>
      <p:sp>
        <p:nvSpPr>
          <p:cNvPr id="8" name="Rounded Rectangle 7"/>
          <p:cNvSpPr/>
          <p:nvPr/>
        </p:nvSpPr>
        <p:spPr>
          <a:xfrm>
            <a:off x="4389120" y="1645920"/>
            <a:ext cx="3291840" cy="4389120"/>
          </a:xfrm>
          <a:prstGeom prst="roundRect">
            <a:avLst/>
          </a:prstGeom>
          <a:solidFill>
            <a:srgbClr val="141C2D"/>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17720" y="1828800"/>
            <a:ext cx="2834640" cy="411480"/>
          </a:xfrm>
          <a:prstGeom prst="rect">
            <a:avLst/>
          </a:prstGeom>
          <a:noFill/>
        </p:spPr>
        <p:txBody>
          <a:bodyPr wrap="square">
            <a:spAutoFit/>
          </a:bodyPr>
          <a:lstStyle/>
          <a:p>
            <a:pPr>
              <a:defRPr sz="1600" b="1">
                <a:solidFill>
                  <a:srgbClr val="10B981"/>
                </a:solidFill>
              </a:defRPr>
            </a:pPr>
            <a:r>
              <a:t>Rule 2: Instant Revocation</a:t>
            </a:r>
          </a:p>
        </p:txBody>
      </p:sp>
      <p:sp>
        <p:nvSpPr>
          <p:cNvPr id="10" name="TextBox 9"/>
          <p:cNvSpPr txBox="1"/>
          <p:nvPr/>
        </p:nvSpPr>
        <p:spPr>
          <a:xfrm>
            <a:off x="4617720" y="2286000"/>
            <a:ext cx="2834640" cy="3611879"/>
          </a:xfrm>
          <a:prstGeom prst="rect">
            <a:avLst/>
          </a:prstGeom>
          <a:noFill/>
        </p:spPr>
        <p:txBody>
          <a:bodyPr wrap="square" tIns="0" lIns="0" rIns="0" bIns="0">
            <a:spAutoFit/>
          </a:bodyPr>
          <a:lstStyle/>
          <a:p>
            <a:pPr>
              <a:spcAft>
                <a:spcPts val="800"/>
              </a:spcAft>
              <a:defRPr sz="1200">
                <a:solidFill>
                  <a:srgbClr val="94A3B8"/>
                </a:solidFill>
              </a:defRPr>
            </a:pPr>
            <a:r>
              <a:t>•  Zero caching latency. Revoking permission deletes the database row immediately.</a:t>
            </a:r>
          </a:p>
          <a:p>
            <a:pPr>
              <a:spcAft>
                <a:spcPts val="800"/>
              </a:spcAft>
              <a:defRPr sz="1200">
                <a:solidFill>
                  <a:srgbClr val="94A3B8"/>
                </a:solidFill>
              </a:defRPr>
            </a:pPr>
            <a:r>
              <a:t>•  Subsequent download attempts fail in 0 milliseconds.</a:t>
            </a:r>
          </a:p>
          <a:p>
            <a:pPr>
              <a:spcAft>
                <a:spcPts val="800"/>
              </a:spcAft>
              <a:defRPr sz="1200">
                <a:solidFill>
                  <a:srgbClr val="94A3B8"/>
                </a:solidFill>
              </a:defRPr>
            </a:pPr>
            <a:r>
              <a:t>•  Eliminates zombie access windows completely without waiting for tokens to expire.</a:t>
            </a:r>
          </a:p>
        </p:txBody>
      </p:sp>
      <p:sp>
        <p:nvSpPr>
          <p:cNvPr id="11" name="Rounded Rectangle 10"/>
          <p:cNvSpPr/>
          <p:nvPr/>
        </p:nvSpPr>
        <p:spPr>
          <a:xfrm>
            <a:off x="8046720" y="1645920"/>
            <a:ext cx="3291840" cy="4389120"/>
          </a:xfrm>
          <a:prstGeom prst="roundRect">
            <a:avLst/>
          </a:prstGeom>
          <a:solidFill>
            <a:srgbClr val="141C2D"/>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75320" y="1828800"/>
            <a:ext cx="2834640" cy="411480"/>
          </a:xfrm>
          <a:prstGeom prst="rect">
            <a:avLst/>
          </a:prstGeom>
          <a:noFill/>
        </p:spPr>
        <p:txBody>
          <a:bodyPr wrap="square">
            <a:spAutoFit/>
          </a:bodyPr>
          <a:lstStyle/>
          <a:p>
            <a:pPr>
              <a:defRPr sz="1600" b="1">
                <a:solidFill>
                  <a:srgbClr val="10B981"/>
                </a:solidFill>
              </a:defRPr>
            </a:pPr>
            <a:r>
              <a:t>Rule 3: Private Storage Only</a:t>
            </a:r>
          </a:p>
        </p:txBody>
      </p:sp>
      <p:sp>
        <p:nvSpPr>
          <p:cNvPr id="13" name="TextBox 12"/>
          <p:cNvSpPr txBox="1"/>
          <p:nvPr/>
        </p:nvSpPr>
        <p:spPr>
          <a:xfrm>
            <a:off x="8275320" y="2286000"/>
            <a:ext cx="2834640" cy="3611879"/>
          </a:xfrm>
          <a:prstGeom prst="rect">
            <a:avLst/>
          </a:prstGeom>
          <a:noFill/>
        </p:spPr>
        <p:txBody>
          <a:bodyPr wrap="square" tIns="0" lIns="0" rIns="0" bIns="0">
            <a:spAutoFit/>
          </a:bodyPr>
          <a:lstStyle/>
          <a:p>
            <a:pPr>
              <a:spcAft>
                <a:spcPts val="800"/>
              </a:spcAft>
              <a:defRPr sz="1200">
                <a:solidFill>
                  <a:srgbClr val="94A3B8"/>
                </a:solidFill>
              </a:defRPr>
            </a:pPr>
            <a:r>
              <a:t>•  Files reside in private cloud buckets or local vaults with zero direct public URLs.</a:t>
            </a:r>
          </a:p>
          <a:p>
            <a:pPr>
              <a:spcAft>
                <a:spcPts val="800"/>
              </a:spcAft>
              <a:defRPr sz="1200">
                <a:solidFill>
                  <a:srgbClr val="94A3B8"/>
                </a:solidFill>
              </a:defRPr>
            </a:pPr>
            <a:r>
              <a:t>•  Access is granted exclusively via timed URLs valid for a maximum of 60 seconds.</a:t>
            </a:r>
          </a:p>
          <a:p>
            <a:pPr>
              <a:spcAft>
                <a:spcPts val="800"/>
              </a:spcAft>
              <a:defRPr sz="1200">
                <a:solidFill>
                  <a:srgbClr val="94A3B8"/>
                </a:solidFill>
              </a:defRPr>
            </a:pPr>
            <a:r>
              <a:t>•  Streaming endpoint re-verifies live database authorization before releasing file bytes.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000" b="1">
                <a:solidFill>
                  <a:srgbClr val="10B981"/>
                </a:solidFill>
              </a:defRPr>
            </a:pPr>
            <a:r>
              <a:t>TECHNOLOGY STACK ARCHITECTURE</a:t>
            </a:r>
          </a:p>
        </p:txBody>
      </p:sp>
      <p:sp>
        <p:nvSpPr>
          <p:cNvPr id="4" name="TextBox 3"/>
          <p:cNvSpPr txBox="1"/>
          <p:nvPr/>
        </p:nvSpPr>
        <p:spPr>
          <a:xfrm>
            <a:off x="731520" y="640080"/>
            <a:ext cx="10698480" cy="731520"/>
          </a:xfrm>
          <a:prstGeom prst="rect">
            <a:avLst/>
          </a:prstGeom>
          <a:noFill/>
        </p:spPr>
        <p:txBody>
          <a:bodyPr wrap="square">
            <a:spAutoFit/>
          </a:bodyPr>
          <a:lstStyle/>
          <a:p>
            <a:pPr>
              <a:defRPr sz="2600" b="1">
                <a:solidFill>
                  <a:srgbClr val="F1F5F9"/>
                </a:solidFill>
              </a:defRPr>
            </a:pPr>
            <a:r>
              <a:t>Full-Stack Technology Ecosystem</a:t>
            </a:r>
          </a:p>
        </p:txBody>
      </p:sp>
      <p:sp>
        <p:nvSpPr>
          <p:cNvPr id="5" name="Rounded Rectangle 4"/>
          <p:cNvSpPr/>
          <p:nvPr/>
        </p:nvSpPr>
        <p:spPr>
          <a:xfrm>
            <a:off x="731520" y="1645920"/>
            <a:ext cx="3291840" cy="4389120"/>
          </a:xfrm>
          <a:prstGeom prst="roundRect">
            <a:avLst/>
          </a:prstGeom>
          <a:solidFill>
            <a:srgbClr val="141C2D"/>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2834640" cy="411480"/>
          </a:xfrm>
          <a:prstGeom prst="rect">
            <a:avLst/>
          </a:prstGeom>
          <a:noFill/>
        </p:spPr>
        <p:txBody>
          <a:bodyPr wrap="square">
            <a:spAutoFit/>
          </a:bodyPr>
          <a:lstStyle/>
          <a:p>
            <a:pPr>
              <a:defRPr sz="1600" b="1">
                <a:solidFill>
                  <a:srgbClr val="38BDF8"/>
                </a:solidFill>
              </a:defRPr>
            </a:pPr>
            <a:r>
              <a:t>Frontend &amp; Styling</a:t>
            </a:r>
          </a:p>
        </p:txBody>
      </p:sp>
      <p:sp>
        <p:nvSpPr>
          <p:cNvPr id="7" name="TextBox 6"/>
          <p:cNvSpPr txBox="1"/>
          <p:nvPr/>
        </p:nvSpPr>
        <p:spPr>
          <a:xfrm>
            <a:off x="960120" y="2286000"/>
            <a:ext cx="2834640" cy="3611879"/>
          </a:xfrm>
          <a:prstGeom prst="rect">
            <a:avLst/>
          </a:prstGeom>
          <a:noFill/>
        </p:spPr>
        <p:txBody>
          <a:bodyPr wrap="square" tIns="0" lIns="0" rIns="0" bIns="0">
            <a:spAutoFit/>
          </a:bodyPr>
          <a:lstStyle/>
          <a:p>
            <a:pPr>
              <a:spcAft>
                <a:spcPts val="800"/>
              </a:spcAft>
              <a:defRPr sz="1200">
                <a:solidFill>
                  <a:srgbClr val="94A3B8"/>
                </a:solidFill>
              </a:defRPr>
            </a:pPr>
            <a:r>
              <a:t>•  Next.js 14.2 (App Router) with React 18 &amp; TypeScript 6.0.</a:t>
            </a:r>
          </a:p>
          <a:p>
            <a:pPr>
              <a:spcAft>
                <a:spcPts val="800"/>
              </a:spcAft>
              <a:defRPr sz="1200">
                <a:solidFill>
                  <a:srgbClr val="94A3B8"/>
                </a:solidFill>
              </a:defRPr>
            </a:pPr>
            <a:r>
              <a:t>•  Tailwind CSS 3.4 with custom 'Cyber-Vault' dark theme.</a:t>
            </a:r>
          </a:p>
          <a:p>
            <a:pPr>
              <a:spcAft>
                <a:spcPts val="800"/>
              </a:spcAft>
              <a:defRPr sz="1200">
                <a:solidFill>
                  <a:srgbClr val="94A3B8"/>
                </a:solidFill>
              </a:defRPr>
            </a:pPr>
            <a:r>
              <a:t>•  Lucide React for responsive security iconography.</a:t>
            </a:r>
          </a:p>
          <a:p>
            <a:pPr>
              <a:spcAft>
                <a:spcPts val="800"/>
              </a:spcAft>
              <a:defRPr sz="1200">
                <a:solidFill>
                  <a:srgbClr val="94A3B8"/>
                </a:solidFill>
              </a:defRPr>
            </a:pPr>
            <a:r>
              <a:t>•  Interactive 60s countdown timers and modal controllers.</a:t>
            </a:r>
          </a:p>
        </p:txBody>
      </p:sp>
      <p:sp>
        <p:nvSpPr>
          <p:cNvPr id="8" name="Rounded Rectangle 7"/>
          <p:cNvSpPr/>
          <p:nvPr/>
        </p:nvSpPr>
        <p:spPr>
          <a:xfrm>
            <a:off x="4389120" y="1645920"/>
            <a:ext cx="3291840" cy="4389120"/>
          </a:xfrm>
          <a:prstGeom prst="roundRect">
            <a:avLst/>
          </a:prstGeom>
          <a:solidFill>
            <a:srgbClr val="141C2D"/>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17720" y="1828800"/>
            <a:ext cx="2834640" cy="411480"/>
          </a:xfrm>
          <a:prstGeom prst="rect">
            <a:avLst/>
          </a:prstGeom>
          <a:noFill/>
        </p:spPr>
        <p:txBody>
          <a:bodyPr wrap="square">
            <a:spAutoFit/>
          </a:bodyPr>
          <a:lstStyle/>
          <a:p>
            <a:pPr>
              <a:defRPr sz="1600" b="1">
                <a:solidFill>
                  <a:srgbClr val="10B981"/>
                </a:solidFill>
              </a:defRPr>
            </a:pPr>
            <a:r>
              <a:t>Backend &amp; Security</a:t>
            </a:r>
          </a:p>
        </p:txBody>
      </p:sp>
      <p:sp>
        <p:nvSpPr>
          <p:cNvPr id="10" name="TextBox 9"/>
          <p:cNvSpPr txBox="1"/>
          <p:nvPr/>
        </p:nvSpPr>
        <p:spPr>
          <a:xfrm>
            <a:off x="4617720" y="2286000"/>
            <a:ext cx="2834640" cy="3611879"/>
          </a:xfrm>
          <a:prstGeom prst="rect">
            <a:avLst/>
          </a:prstGeom>
          <a:noFill/>
        </p:spPr>
        <p:txBody>
          <a:bodyPr wrap="square" tIns="0" lIns="0" rIns="0" bIns="0">
            <a:spAutoFit/>
          </a:bodyPr>
          <a:lstStyle/>
          <a:p>
            <a:pPr>
              <a:spcAft>
                <a:spcPts val="800"/>
              </a:spcAft>
              <a:defRPr sz="1200">
                <a:solidFill>
                  <a:srgbClr val="94A3B8"/>
                </a:solidFill>
              </a:defRPr>
            </a:pPr>
            <a:r>
              <a:t>•  Next.js REST Route Handlers running on Node.js v22.</a:t>
            </a:r>
          </a:p>
          <a:p>
            <a:pPr>
              <a:spcAft>
                <a:spcPts val="800"/>
              </a:spcAft>
              <a:defRPr sz="1200">
                <a:solidFill>
                  <a:srgbClr val="94A3B8"/>
                </a:solidFill>
              </a:defRPr>
            </a:pPr>
            <a:r>
              <a:t>•  jose (HS256 JWT) with HttpOnly SameSite=Lax session cookies.</a:t>
            </a:r>
          </a:p>
          <a:p>
            <a:pPr>
              <a:spcAft>
                <a:spcPts val="800"/>
              </a:spcAft>
              <a:defRPr sz="1200">
                <a:solidFill>
                  <a:srgbClr val="94A3B8"/>
                </a:solidFill>
              </a:defRPr>
            </a:pPr>
            <a:r>
              <a:t>•  bcryptjs for salted password hashing (10 salt rounds).</a:t>
            </a:r>
          </a:p>
          <a:p>
            <a:pPr>
              <a:spcAft>
                <a:spcPts val="800"/>
              </a:spcAft>
              <a:defRPr sz="1200">
                <a:solidFill>
                  <a:srgbClr val="94A3B8"/>
                </a:solidFill>
              </a:defRPr>
            </a:pPr>
            <a:r>
              <a:t>•  Node.js native crypto for SHA-256 hash chaining.</a:t>
            </a:r>
          </a:p>
        </p:txBody>
      </p:sp>
      <p:sp>
        <p:nvSpPr>
          <p:cNvPr id="11" name="Rounded Rectangle 10"/>
          <p:cNvSpPr/>
          <p:nvPr/>
        </p:nvSpPr>
        <p:spPr>
          <a:xfrm>
            <a:off x="8046720" y="1645920"/>
            <a:ext cx="3291840" cy="4389120"/>
          </a:xfrm>
          <a:prstGeom prst="roundRect">
            <a:avLst/>
          </a:prstGeom>
          <a:solidFill>
            <a:srgbClr val="141C2D"/>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75320" y="1828800"/>
            <a:ext cx="2834640" cy="411480"/>
          </a:xfrm>
          <a:prstGeom prst="rect">
            <a:avLst/>
          </a:prstGeom>
          <a:noFill/>
        </p:spPr>
        <p:txBody>
          <a:bodyPr wrap="square">
            <a:spAutoFit/>
          </a:bodyPr>
          <a:lstStyle/>
          <a:p>
            <a:pPr>
              <a:defRPr sz="1600" b="1">
                <a:solidFill>
                  <a:srgbClr val="38BDF8"/>
                </a:solidFill>
              </a:defRPr>
            </a:pPr>
            <a:r>
              <a:t>Data &amp; Storage Tier</a:t>
            </a:r>
          </a:p>
        </p:txBody>
      </p:sp>
      <p:sp>
        <p:nvSpPr>
          <p:cNvPr id="13" name="TextBox 12"/>
          <p:cNvSpPr txBox="1"/>
          <p:nvPr/>
        </p:nvSpPr>
        <p:spPr>
          <a:xfrm>
            <a:off x="8275320" y="2286000"/>
            <a:ext cx="2834640" cy="3611879"/>
          </a:xfrm>
          <a:prstGeom prst="rect">
            <a:avLst/>
          </a:prstGeom>
          <a:noFill/>
        </p:spPr>
        <p:txBody>
          <a:bodyPr wrap="square" tIns="0" lIns="0" rIns="0" bIns="0">
            <a:spAutoFit/>
          </a:bodyPr>
          <a:lstStyle/>
          <a:p>
            <a:pPr>
              <a:spcAft>
                <a:spcPts val="800"/>
              </a:spcAft>
              <a:defRPr sz="1200">
                <a:solidFill>
                  <a:srgbClr val="94A3B8"/>
                </a:solidFill>
              </a:defRPr>
            </a:pPr>
            <a:r>
              <a:t>•  Prisma ORM 5.21 with SQLite (local) and PostgreSQL RLS (prod).</a:t>
            </a:r>
          </a:p>
          <a:p>
            <a:pPr>
              <a:spcAft>
                <a:spcPts val="800"/>
              </a:spcAft>
              <a:defRPr sz="1200">
                <a:solidFill>
                  <a:srgbClr val="94A3B8"/>
                </a:solidFill>
              </a:defRPr>
            </a:pPr>
            <a:r>
              <a:t>•  Modular StorageDriver supporting Cloudflare R2 / AWS S3.</a:t>
            </a:r>
          </a:p>
          <a:p>
            <a:pPr>
              <a:spcAft>
                <a:spcPts val="800"/>
              </a:spcAft>
              <a:defRPr sz="1200">
                <a:solidFill>
                  <a:srgbClr val="94A3B8"/>
                </a:solidFill>
              </a:defRPr>
            </a:pPr>
            <a:r>
              <a:t>•  Local disk vault with HMAC-SHA256 authenticated streaming proxy.</a:t>
            </a:r>
          </a:p>
          <a:p>
            <a:pPr>
              <a:spcAft>
                <a:spcPts val="800"/>
              </a:spcAft>
              <a:defRPr sz="1200">
                <a:solidFill>
                  <a:srgbClr val="94A3B8"/>
                </a:solidFill>
              </a:defRPr>
            </a:pPr>
            <a:r>
              <a:t>•  Vitest 2.1 automated test framework (36 passing tests).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000" b="1">
                <a:solidFill>
                  <a:srgbClr val="10B981"/>
                </a:solidFill>
              </a:defRPr>
            </a:pPr>
            <a:r>
              <a:t>SYSTEM ARCHITECTURE</a:t>
            </a:r>
          </a:p>
        </p:txBody>
      </p:sp>
      <p:sp>
        <p:nvSpPr>
          <p:cNvPr id="4" name="TextBox 3"/>
          <p:cNvSpPr txBox="1"/>
          <p:nvPr/>
        </p:nvSpPr>
        <p:spPr>
          <a:xfrm>
            <a:off x="731520" y="640080"/>
            <a:ext cx="10698480" cy="731520"/>
          </a:xfrm>
          <a:prstGeom prst="rect">
            <a:avLst/>
          </a:prstGeom>
          <a:noFill/>
        </p:spPr>
        <p:txBody>
          <a:bodyPr wrap="square">
            <a:spAutoFit/>
          </a:bodyPr>
          <a:lstStyle/>
          <a:p>
            <a:pPr>
              <a:defRPr sz="2600" b="1">
                <a:solidFill>
                  <a:srgbClr val="F1F5F9"/>
                </a:solidFill>
              </a:defRPr>
            </a:pPr>
            <a:r>
              <a:t>High-Level Architecture &amp; Request Flow</a:t>
            </a:r>
          </a:p>
        </p:txBody>
      </p:sp>
      <p:sp>
        <p:nvSpPr>
          <p:cNvPr id="5" name="Rounded Rectangle 4"/>
          <p:cNvSpPr/>
          <p:nvPr/>
        </p:nvSpPr>
        <p:spPr>
          <a:xfrm>
            <a:off x="731520" y="1645920"/>
            <a:ext cx="3291840" cy="4389120"/>
          </a:xfrm>
          <a:prstGeom prst="roundRect">
            <a:avLst/>
          </a:prstGeom>
          <a:solidFill>
            <a:srgbClr val="141C2D"/>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2834640" cy="411480"/>
          </a:xfrm>
          <a:prstGeom prst="rect">
            <a:avLst/>
          </a:prstGeom>
          <a:noFill/>
        </p:spPr>
        <p:txBody>
          <a:bodyPr wrap="square">
            <a:spAutoFit/>
          </a:bodyPr>
          <a:lstStyle/>
          <a:p>
            <a:pPr>
              <a:defRPr sz="1600" b="1">
                <a:solidFill>
                  <a:srgbClr val="38BDF8"/>
                </a:solidFill>
              </a:defRPr>
            </a:pPr>
            <a:r>
              <a:t>1. Ingress &amp; Auth Layer</a:t>
            </a:r>
          </a:p>
        </p:txBody>
      </p:sp>
      <p:sp>
        <p:nvSpPr>
          <p:cNvPr id="7" name="TextBox 6"/>
          <p:cNvSpPr txBox="1"/>
          <p:nvPr/>
        </p:nvSpPr>
        <p:spPr>
          <a:xfrm>
            <a:off x="960120" y="2286000"/>
            <a:ext cx="2834640" cy="3611879"/>
          </a:xfrm>
          <a:prstGeom prst="rect">
            <a:avLst/>
          </a:prstGeom>
          <a:noFill/>
        </p:spPr>
        <p:txBody>
          <a:bodyPr wrap="square" tIns="0" lIns="0" rIns="0" bIns="0">
            <a:spAutoFit/>
          </a:bodyPr>
          <a:lstStyle/>
          <a:p>
            <a:pPr>
              <a:spcAft>
                <a:spcPts val="800"/>
              </a:spcAft>
              <a:defRPr sz="1200">
                <a:solidFill>
                  <a:srgbClr val="94A3B8"/>
                </a:solidFill>
              </a:defRPr>
            </a:pPr>
            <a:r>
              <a:t>•  Client communicates over HTTPS carrying HttpOnly JWT cookie.</a:t>
            </a:r>
          </a:p>
          <a:p>
            <a:pPr>
              <a:spcAft>
                <a:spcPts val="800"/>
              </a:spcAft>
              <a:defRPr sz="1200">
                <a:solidFill>
                  <a:srgbClr val="94A3B8"/>
                </a:solidFill>
              </a:defRPr>
            </a:pPr>
            <a:r>
              <a:t>•  Session middleware extracts claims (id, email, role).</a:t>
            </a:r>
          </a:p>
          <a:p>
            <a:pPr>
              <a:spcAft>
                <a:spcPts val="800"/>
              </a:spcAft>
              <a:defRPr sz="1200">
                <a:solidFill>
                  <a:srgbClr val="94A3B8"/>
                </a:solidFill>
              </a:defRPr>
            </a:pPr>
            <a:r>
              <a:t>•  Unauthenticated requests immediately rejected with 401 Unauthorized.</a:t>
            </a:r>
          </a:p>
        </p:txBody>
      </p:sp>
      <p:sp>
        <p:nvSpPr>
          <p:cNvPr id="8" name="Rounded Rectangle 7"/>
          <p:cNvSpPr/>
          <p:nvPr/>
        </p:nvSpPr>
        <p:spPr>
          <a:xfrm>
            <a:off x="4389120" y="1645920"/>
            <a:ext cx="3291840" cy="4389120"/>
          </a:xfrm>
          <a:prstGeom prst="roundRect">
            <a:avLst/>
          </a:prstGeom>
          <a:solidFill>
            <a:srgbClr val="141C2D"/>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17720" y="1828800"/>
            <a:ext cx="2834640" cy="411480"/>
          </a:xfrm>
          <a:prstGeom prst="rect">
            <a:avLst/>
          </a:prstGeom>
          <a:noFill/>
        </p:spPr>
        <p:txBody>
          <a:bodyPr wrap="square">
            <a:spAutoFit/>
          </a:bodyPr>
          <a:lstStyle/>
          <a:p>
            <a:pPr>
              <a:defRPr sz="1600" b="1">
                <a:solidFill>
                  <a:srgbClr val="10B981"/>
                </a:solidFill>
              </a:defRPr>
            </a:pPr>
            <a:r>
              <a:t>2. Authorization Guard</a:t>
            </a:r>
          </a:p>
        </p:txBody>
      </p:sp>
      <p:sp>
        <p:nvSpPr>
          <p:cNvPr id="10" name="TextBox 9"/>
          <p:cNvSpPr txBox="1"/>
          <p:nvPr/>
        </p:nvSpPr>
        <p:spPr>
          <a:xfrm>
            <a:off x="4617720" y="2286000"/>
            <a:ext cx="2834640" cy="3611879"/>
          </a:xfrm>
          <a:prstGeom prst="rect">
            <a:avLst/>
          </a:prstGeom>
          <a:noFill/>
        </p:spPr>
        <p:txBody>
          <a:bodyPr wrap="square" tIns="0" lIns="0" rIns="0" bIns="0">
            <a:spAutoFit/>
          </a:bodyPr>
          <a:lstStyle/>
          <a:p>
            <a:pPr>
              <a:spcAft>
                <a:spcPts val="800"/>
              </a:spcAft>
              <a:defRPr sz="1200">
                <a:solidFill>
                  <a:srgbClr val="94A3B8"/>
                </a:solidFill>
              </a:defRPr>
            </a:pPr>
            <a:r>
              <a:t>•  verifyDocumentAccess guard queries DocumentPermission table.</a:t>
            </a:r>
          </a:p>
          <a:p>
            <a:pPr>
              <a:spcAft>
                <a:spcPts val="800"/>
              </a:spcAft>
              <a:defRPr sz="1200">
                <a:solidFill>
                  <a:srgbClr val="94A3B8"/>
                </a:solidFill>
              </a:defRPr>
            </a:pPr>
            <a:r>
              <a:t>•  Enforces Owner sovereignty and checks canShare delegation.</a:t>
            </a:r>
          </a:p>
          <a:p>
            <a:pPr>
              <a:spcAft>
                <a:spcPts val="800"/>
              </a:spcAft>
              <a:defRPr sz="1200">
                <a:solidFill>
                  <a:srgbClr val="94A3B8"/>
                </a:solidFill>
              </a:defRPr>
            </a:pPr>
            <a:r>
              <a:t>•  Traps unauthorized probes into UNAUTHORIZED_ACCESS_BLOCKED.</a:t>
            </a:r>
          </a:p>
        </p:txBody>
      </p:sp>
      <p:sp>
        <p:nvSpPr>
          <p:cNvPr id="11" name="Rounded Rectangle 10"/>
          <p:cNvSpPr/>
          <p:nvPr/>
        </p:nvSpPr>
        <p:spPr>
          <a:xfrm>
            <a:off x="8046720" y="1645920"/>
            <a:ext cx="3291840" cy="4389120"/>
          </a:xfrm>
          <a:prstGeom prst="roundRect">
            <a:avLst/>
          </a:prstGeom>
          <a:solidFill>
            <a:srgbClr val="141C2D"/>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75320" y="1828800"/>
            <a:ext cx="2834640" cy="411480"/>
          </a:xfrm>
          <a:prstGeom prst="rect">
            <a:avLst/>
          </a:prstGeom>
          <a:noFill/>
        </p:spPr>
        <p:txBody>
          <a:bodyPr wrap="square">
            <a:spAutoFit/>
          </a:bodyPr>
          <a:lstStyle/>
          <a:p>
            <a:pPr>
              <a:defRPr sz="1600" b="1">
                <a:solidFill>
                  <a:srgbClr val="38BDF8"/>
                </a:solidFill>
              </a:defRPr>
            </a:pPr>
            <a:r>
              <a:t>3. Storage &amp; Audit Ledger</a:t>
            </a:r>
          </a:p>
        </p:txBody>
      </p:sp>
      <p:sp>
        <p:nvSpPr>
          <p:cNvPr id="13" name="TextBox 12"/>
          <p:cNvSpPr txBox="1"/>
          <p:nvPr/>
        </p:nvSpPr>
        <p:spPr>
          <a:xfrm>
            <a:off x="8275320" y="2286000"/>
            <a:ext cx="2834640" cy="3611879"/>
          </a:xfrm>
          <a:prstGeom prst="rect">
            <a:avLst/>
          </a:prstGeom>
          <a:noFill/>
        </p:spPr>
        <p:txBody>
          <a:bodyPr wrap="square" tIns="0" lIns="0" rIns="0" bIns="0">
            <a:spAutoFit/>
          </a:bodyPr>
          <a:lstStyle/>
          <a:p>
            <a:pPr>
              <a:spcAft>
                <a:spcPts val="800"/>
              </a:spcAft>
              <a:defRPr sz="1200">
                <a:solidFill>
                  <a:srgbClr val="94A3B8"/>
                </a:solidFill>
              </a:defRPr>
            </a:pPr>
            <a:r>
              <a:t>•  Private Storage Driver issues 60s presigned URL.</a:t>
            </a:r>
          </a:p>
          <a:p>
            <a:pPr>
              <a:spcAft>
                <a:spcPts val="800"/>
              </a:spcAft>
              <a:defRPr sz="1200">
                <a:solidFill>
                  <a:srgbClr val="94A3B8"/>
                </a:solidFill>
              </a:defRPr>
            </a:pPr>
            <a:r>
              <a:t>•  Sequential Promise mutex computes SHA-256 hash.</a:t>
            </a:r>
          </a:p>
          <a:p>
            <a:pPr>
              <a:spcAft>
                <a:spcPts val="800"/>
              </a:spcAft>
              <a:defRPr sz="1200">
                <a:solidFill>
                  <a:srgbClr val="94A3B8"/>
                </a:solidFill>
              </a:defRPr>
            </a:pPr>
            <a:r>
              <a:t>•  Appends record mathematically linked to previousHash.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000" b="1">
                <a:solidFill>
                  <a:srgbClr val="10B981"/>
                </a:solidFill>
              </a:defRPr>
            </a:pPr>
            <a:r>
              <a:t>ACCESS CONTROL &amp; ROLE GOVERNANCE</a:t>
            </a:r>
          </a:p>
        </p:txBody>
      </p:sp>
      <p:sp>
        <p:nvSpPr>
          <p:cNvPr id="4" name="TextBox 3"/>
          <p:cNvSpPr txBox="1"/>
          <p:nvPr/>
        </p:nvSpPr>
        <p:spPr>
          <a:xfrm>
            <a:off x="731520" y="640080"/>
            <a:ext cx="10698480" cy="731520"/>
          </a:xfrm>
          <a:prstGeom prst="rect">
            <a:avLst/>
          </a:prstGeom>
          <a:noFill/>
        </p:spPr>
        <p:txBody>
          <a:bodyPr wrap="square">
            <a:spAutoFit/>
          </a:bodyPr>
          <a:lstStyle/>
          <a:p>
            <a:pPr>
              <a:defRPr sz="2600" b="1">
                <a:solidFill>
                  <a:srgbClr val="F1F5F9"/>
                </a:solidFill>
              </a:defRPr>
            </a:pPr>
            <a:r>
              <a:t>Separation of Duties: Owner vs. Admin vs. Viewer</a:t>
            </a:r>
          </a:p>
        </p:txBody>
      </p:sp>
      <p:sp>
        <p:nvSpPr>
          <p:cNvPr id="5" name="Rounded Rectangle 4"/>
          <p:cNvSpPr/>
          <p:nvPr/>
        </p:nvSpPr>
        <p:spPr>
          <a:xfrm>
            <a:off x="731520" y="1645920"/>
            <a:ext cx="3291840" cy="4389120"/>
          </a:xfrm>
          <a:prstGeom prst="roundRect">
            <a:avLst/>
          </a:prstGeom>
          <a:solidFill>
            <a:srgbClr val="141C2D"/>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2834640" cy="411480"/>
          </a:xfrm>
          <a:prstGeom prst="rect">
            <a:avLst/>
          </a:prstGeom>
          <a:noFill/>
        </p:spPr>
        <p:txBody>
          <a:bodyPr wrap="square">
            <a:spAutoFit/>
          </a:bodyPr>
          <a:lstStyle/>
          <a:p>
            <a:pPr>
              <a:defRPr sz="1600" b="1">
                <a:solidFill>
                  <a:srgbClr val="10B981"/>
                </a:solidFill>
              </a:defRPr>
            </a:pPr>
            <a:r>
              <a:t>Document Owner (Data Plane)</a:t>
            </a:r>
          </a:p>
        </p:txBody>
      </p:sp>
      <p:sp>
        <p:nvSpPr>
          <p:cNvPr id="7" name="TextBox 6"/>
          <p:cNvSpPr txBox="1"/>
          <p:nvPr/>
        </p:nvSpPr>
        <p:spPr>
          <a:xfrm>
            <a:off x="960120" y="2286000"/>
            <a:ext cx="2834640" cy="3611879"/>
          </a:xfrm>
          <a:prstGeom prst="rect">
            <a:avLst/>
          </a:prstGeom>
          <a:noFill/>
        </p:spPr>
        <p:txBody>
          <a:bodyPr wrap="square" tIns="0" lIns="0" rIns="0" bIns="0">
            <a:spAutoFit/>
          </a:bodyPr>
          <a:lstStyle/>
          <a:p>
            <a:pPr>
              <a:spcAft>
                <a:spcPts val="800"/>
              </a:spcAft>
              <a:defRPr sz="1200">
                <a:solidFill>
                  <a:srgbClr val="94A3B8"/>
                </a:solidFill>
              </a:defRPr>
            </a:pPr>
            <a:r>
              <a:t>•  Exclusive sovereign custodian of uploaded documents.</a:t>
            </a:r>
          </a:p>
          <a:p>
            <a:pPr>
              <a:spcAft>
                <a:spcPts val="800"/>
              </a:spcAft>
              <a:defRPr sz="1200">
                <a:solidFill>
                  <a:srgbClr val="94A3B8"/>
                </a:solidFill>
              </a:defRPr>
            </a:pPr>
            <a:r>
              <a:t>•  Retains sole authority to delete owned files.</a:t>
            </a:r>
          </a:p>
          <a:p>
            <a:pPr>
              <a:spcAft>
                <a:spcPts val="800"/>
              </a:spcAft>
              <a:defRPr sz="1200">
                <a:solidFill>
                  <a:srgbClr val="94A3B8"/>
                </a:solidFill>
              </a:defRPr>
            </a:pPr>
            <a:r>
              <a:t>•  Grants granular permissions: canRead, canDownload, canEdit.</a:t>
            </a:r>
          </a:p>
          <a:p>
            <a:pPr>
              <a:spcAft>
                <a:spcPts val="800"/>
              </a:spcAft>
              <a:defRPr sz="1200">
                <a:solidFill>
                  <a:srgbClr val="94A3B8"/>
                </a:solidFill>
              </a:defRPr>
            </a:pPr>
            <a:r>
              <a:t>•  Can delegate management rights to Admin via canShare: true.</a:t>
            </a:r>
          </a:p>
        </p:txBody>
      </p:sp>
      <p:sp>
        <p:nvSpPr>
          <p:cNvPr id="8" name="Rounded Rectangle 7"/>
          <p:cNvSpPr/>
          <p:nvPr/>
        </p:nvSpPr>
        <p:spPr>
          <a:xfrm>
            <a:off x="4389120" y="1645920"/>
            <a:ext cx="3291840" cy="4389120"/>
          </a:xfrm>
          <a:prstGeom prst="roundRect">
            <a:avLst/>
          </a:prstGeom>
          <a:solidFill>
            <a:srgbClr val="141C2D"/>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17720" y="1828800"/>
            <a:ext cx="2834640" cy="411480"/>
          </a:xfrm>
          <a:prstGeom prst="rect">
            <a:avLst/>
          </a:prstGeom>
          <a:noFill/>
        </p:spPr>
        <p:txBody>
          <a:bodyPr wrap="square">
            <a:spAutoFit/>
          </a:bodyPr>
          <a:lstStyle/>
          <a:p>
            <a:pPr>
              <a:defRPr sz="1600" b="1">
                <a:solidFill>
                  <a:srgbClr val="38BDF8"/>
                </a:solidFill>
              </a:defRPr>
            </a:pPr>
            <a:r>
              <a:t>Admin (Control Plane)</a:t>
            </a:r>
          </a:p>
        </p:txBody>
      </p:sp>
      <p:sp>
        <p:nvSpPr>
          <p:cNvPr id="10" name="TextBox 9"/>
          <p:cNvSpPr txBox="1"/>
          <p:nvPr/>
        </p:nvSpPr>
        <p:spPr>
          <a:xfrm>
            <a:off x="4617720" y="2286000"/>
            <a:ext cx="2834640" cy="3611879"/>
          </a:xfrm>
          <a:prstGeom prst="rect">
            <a:avLst/>
          </a:prstGeom>
          <a:noFill/>
        </p:spPr>
        <p:txBody>
          <a:bodyPr wrap="square" tIns="0" lIns="0" rIns="0" bIns="0">
            <a:spAutoFit/>
          </a:bodyPr>
          <a:lstStyle/>
          <a:p>
            <a:pPr>
              <a:spcAft>
                <a:spcPts val="800"/>
              </a:spcAft>
              <a:defRPr sz="1200">
                <a:solidFill>
                  <a:srgbClr val="94A3B8"/>
                </a:solidFill>
              </a:defRPr>
            </a:pPr>
            <a:r>
              <a:t>•  System infrastructure and compliance verification officer.</a:t>
            </a:r>
          </a:p>
          <a:p>
            <a:pPr>
              <a:spcAft>
                <a:spcPts val="800"/>
              </a:spcAft>
              <a:defRPr sz="1200">
                <a:solidFill>
                  <a:srgbClr val="94A3B8"/>
                </a:solidFill>
              </a:defRPr>
            </a:pPr>
            <a:r>
              <a:t>•  Can inspect global audit logs and verify cryptographic chain.</a:t>
            </a:r>
          </a:p>
          <a:p>
            <a:pPr>
              <a:spcAft>
                <a:spcPts val="800"/>
              </a:spcAft>
              <a:defRPr sz="1200">
                <a:solidFill>
                  <a:srgbClr val="94A3B8"/>
                </a:solidFill>
              </a:defRPr>
            </a:pPr>
            <a:r>
              <a:t>•  CANNOT read or delegate Owner files without explicit Owner grant.</a:t>
            </a:r>
          </a:p>
          <a:p>
            <a:pPr>
              <a:spcAft>
                <a:spcPts val="800"/>
              </a:spcAft>
              <a:defRPr sz="1200">
                <a:solidFill>
                  <a:srgbClr val="94A3B8"/>
                </a:solidFill>
              </a:defRPr>
            </a:pPr>
            <a:r>
              <a:t>•  Eliminates IT superadmin 'God Mode' security risks.</a:t>
            </a:r>
          </a:p>
        </p:txBody>
      </p:sp>
      <p:sp>
        <p:nvSpPr>
          <p:cNvPr id="11" name="Rounded Rectangle 10"/>
          <p:cNvSpPr/>
          <p:nvPr/>
        </p:nvSpPr>
        <p:spPr>
          <a:xfrm>
            <a:off x="8046720" y="1645920"/>
            <a:ext cx="3291840" cy="4389120"/>
          </a:xfrm>
          <a:prstGeom prst="roundRect">
            <a:avLst/>
          </a:prstGeom>
          <a:solidFill>
            <a:srgbClr val="141C2D"/>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75320" y="1828800"/>
            <a:ext cx="2834640" cy="411480"/>
          </a:xfrm>
          <a:prstGeom prst="rect">
            <a:avLst/>
          </a:prstGeom>
          <a:noFill/>
        </p:spPr>
        <p:txBody>
          <a:bodyPr wrap="square">
            <a:spAutoFit/>
          </a:bodyPr>
          <a:lstStyle/>
          <a:p>
            <a:pPr>
              <a:defRPr sz="1600" b="1">
                <a:solidFill>
                  <a:srgbClr val="94A3B8"/>
                </a:solidFill>
              </a:defRPr>
            </a:pPr>
            <a:r>
              <a:t>Viewer (Consumer Plane)</a:t>
            </a:r>
          </a:p>
        </p:txBody>
      </p:sp>
      <p:sp>
        <p:nvSpPr>
          <p:cNvPr id="13" name="TextBox 12"/>
          <p:cNvSpPr txBox="1"/>
          <p:nvPr/>
        </p:nvSpPr>
        <p:spPr>
          <a:xfrm>
            <a:off x="8275320" y="2286000"/>
            <a:ext cx="2834640" cy="3611879"/>
          </a:xfrm>
          <a:prstGeom prst="rect">
            <a:avLst/>
          </a:prstGeom>
          <a:noFill/>
        </p:spPr>
        <p:txBody>
          <a:bodyPr wrap="square" tIns="0" lIns="0" rIns="0" bIns="0">
            <a:spAutoFit/>
          </a:bodyPr>
          <a:lstStyle/>
          <a:p>
            <a:pPr>
              <a:spcAft>
                <a:spcPts val="800"/>
              </a:spcAft>
              <a:defRPr sz="1200">
                <a:solidFill>
                  <a:srgbClr val="94A3B8"/>
                </a:solidFill>
              </a:defRPr>
            </a:pPr>
            <a:r>
              <a:t>•  Least-privilege document consumer.</a:t>
            </a:r>
          </a:p>
          <a:p>
            <a:pPr>
              <a:spcAft>
                <a:spcPts val="800"/>
              </a:spcAft>
              <a:defRPr sz="1200">
                <a:solidFill>
                  <a:srgbClr val="94A3B8"/>
                </a:solidFill>
              </a:defRPr>
            </a:pPr>
            <a:r>
              <a:t>•  Can view or download only explicitly delegated files.</a:t>
            </a:r>
          </a:p>
          <a:p>
            <a:pPr>
              <a:spcAft>
                <a:spcPts val="800"/>
              </a:spcAft>
              <a:defRPr sz="1200">
                <a:solidFill>
                  <a:srgbClr val="94A3B8"/>
                </a:solidFill>
              </a:defRPr>
            </a:pPr>
            <a:r>
              <a:t>•  Cannot upload documents, alter permissions, or view logs.</a:t>
            </a:r>
          </a:p>
          <a:p>
            <a:pPr>
              <a:spcAft>
                <a:spcPts val="800"/>
              </a:spcAft>
              <a:defRPr sz="1200">
                <a:solidFill>
                  <a:srgbClr val="94A3B8"/>
                </a:solidFill>
              </a:defRPr>
            </a:pPr>
            <a:r>
              <a:t>•  Probes into unauthorized files trigger immediate 403 Forbidden.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000" b="1">
                <a:solidFill>
                  <a:srgbClr val="10B981"/>
                </a:solidFill>
              </a:defRPr>
            </a:pPr>
            <a:r>
              <a:t>IMMUTABLE AUDIT LEDGER</a:t>
            </a:r>
          </a:p>
        </p:txBody>
      </p:sp>
      <p:sp>
        <p:nvSpPr>
          <p:cNvPr id="4" name="TextBox 3"/>
          <p:cNvSpPr txBox="1"/>
          <p:nvPr/>
        </p:nvSpPr>
        <p:spPr>
          <a:xfrm>
            <a:off x="731520" y="640080"/>
            <a:ext cx="10698480" cy="731520"/>
          </a:xfrm>
          <a:prstGeom prst="rect">
            <a:avLst/>
          </a:prstGeom>
          <a:noFill/>
        </p:spPr>
        <p:txBody>
          <a:bodyPr wrap="square">
            <a:spAutoFit/>
          </a:bodyPr>
          <a:lstStyle/>
          <a:p>
            <a:pPr>
              <a:defRPr sz="2600" b="1">
                <a:solidFill>
                  <a:srgbClr val="F1F5F9"/>
                </a:solidFill>
              </a:defRPr>
            </a:pPr>
            <a:r>
              <a:t>Blockchain-Inspired SHA-256 Hash Chaining</a:t>
            </a:r>
          </a:p>
        </p:txBody>
      </p:sp>
      <p:sp>
        <p:nvSpPr>
          <p:cNvPr id="5" name="Rounded Rectangle 4"/>
          <p:cNvSpPr/>
          <p:nvPr/>
        </p:nvSpPr>
        <p:spPr>
          <a:xfrm>
            <a:off x="731520" y="1645920"/>
            <a:ext cx="3291840" cy="4389120"/>
          </a:xfrm>
          <a:prstGeom prst="roundRect">
            <a:avLst/>
          </a:prstGeom>
          <a:solidFill>
            <a:srgbClr val="141C2D"/>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2834640" cy="411480"/>
          </a:xfrm>
          <a:prstGeom prst="rect">
            <a:avLst/>
          </a:prstGeom>
          <a:noFill/>
        </p:spPr>
        <p:txBody>
          <a:bodyPr wrap="square">
            <a:spAutoFit/>
          </a:bodyPr>
          <a:lstStyle/>
          <a:p>
            <a:pPr>
              <a:defRPr sz="1600" b="1">
                <a:solidFill>
                  <a:srgbClr val="10B981"/>
                </a:solidFill>
              </a:defRPr>
            </a:pPr>
            <a:r>
              <a:t>Mathematical Linkage</a:t>
            </a:r>
          </a:p>
        </p:txBody>
      </p:sp>
      <p:sp>
        <p:nvSpPr>
          <p:cNvPr id="7" name="TextBox 6"/>
          <p:cNvSpPr txBox="1"/>
          <p:nvPr/>
        </p:nvSpPr>
        <p:spPr>
          <a:xfrm>
            <a:off x="960120" y="2286000"/>
            <a:ext cx="2834640" cy="3611879"/>
          </a:xfrm>
          <a:prstGeom prst="rect">
            <a:avLst/>
          </a:prstGeom>
          <a:noFill/>
        </p:spPr>
        <p:txBody>
          <a:bodyPr wrap="square" tIns="0" lIns="0" rIns="0" bIns="0">
            <a:spAutoFit/>
          </a:bodyPr>
          <a:lstStyle/>
          <a:p>
            <a:pPr>
              <a:spcAft>
                <a:spcPts val="800"/>
              </a:spcAft>
              <a:defRPr sz="1200">
                <a:solidFill>
                  <a:srgbClr val="94A3B8"/>
                </a:solidFill>
              </a:defRPr>
            </a:pPr>
            <a:r>
              <a:t>•  currentHash = SHA-256(id | actorId | action | targetId | ip | status | time | previousHash).</a:t>
            </a:r>
          </a:p>
          <a:p>
            <a:pPr>
              <a:spcAft>
                <a:spcPts val="800"/>
              </a:spcAft>
              <a:defRPr sz="1200">
                <a:solidFill>
                  <a:srgbClr val="94A3B8"/>
                </a:solidFill>
              </a:defRPr>
            </a:pPr>
            <a:r>
              <a:t>•  Every record is cryptographically sealed to its predecessor.</a:t>
            </a:r>
          </a:p>
          <a:p>
            <a:pPr>
              <a:spcAft>
                <a:spcPts val="800"/>
              </a:spcAft>
              <a:defRPr sz="1200">
                <a:solidFill>
                  <a:srgbClr val="94A3B8"/>
                </a:solidFill>
              </a:defRPr>
            </a:pPr>
            <a:r>
              <a:t>•  Anchored to Genesis Block: 00000000000000000000000000000000...</a:t>
            </a:r>
          </a:p>
        </p:txBody>
      </p:sp>
      <p:sp>
        <p:nvSpPr>
          <p:cNvPr id="8" name="Rounded Rectangle 7"/>
          <p:cNvSpPr/>
          <p:nvPr/>
        </p:nvSpPr>
        <p:spPr>
          <a:xfrm>
            <a:off x="4389120" y="1645920"/>
            <a:ext cx="3291840" cy="4389120"/>
          </a:xfrm>
          <a:prstGeom prst="roundRect">
            <a:avLst/>
          </a:prstGeom>
          <a:solidFill>
            <a:srgbClr val="141C2D"/>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17720" y="1828800"/>
            <a:ext cx="2834640" cy="411480"/>
          </a:xfrm>
          <a:prstGeom prst="rect">
            <a:avLst/>
          </a:prstGeom>
          <a:noFill/>
        </p:spPr>
        <p:txBody>
          <a:bodyPr wrap="square">
            <a:spAutoFit/>
          </a:bodyPr>
          <a:lstStyle/>
          <a:p>
            <a:pPr>
              <a:defRPr sz="1600" b="1">
                <a:solidFill>
                  <a:srgbClr val="F43F5E"/>
                </a:solidFill>
              </a:defRPr>
            </a:pPr>
            <a:r>
              <a:t>Tamper Detection</a:t>
            </a:r>
          </a:p>
        </p:txBody>
      </p:sp>
      <p:sp>
        <p:nvSpPr>
          <p:cNvPr id="10" name="TextBox 9"/>
          <p:cNvSpPr txBox="1"/>
          <p:nvPr/>
        </p:nvSpPr>
        <p:spPr>
          <a:xfrm>
            <a:off x="4617720" y="2286000"/>
            <a:ext cx="2834640" cy="3611879"/>
          </a:xfrm>
          <a:prstGeom prst="rect">
            <a:avLst/>
          </a:prstGeom>
          <a:noFill/>
        </p:spPr>
        <p:txBody>
          <a:bodyPr wrap="square" tIns="0" lIns="0" rIns="0" bIns="0">
            <a:spAutoFit/>
          </a:bodyPr>
          <a:lstStyle/>
          <a:p>
            <a:pPr>
              <a:spcAft>
                <a:spcPts val="800"/>
              </a:spcAft>
              <a:defRPr sz="1200">
                <a:solidFill>
                  <a:srgbClr val="94A3B8"/>
                </a:solidFill>
              </a:defRPr>
            </a:pPr>
            <a:r>
              <a:t>•  Any manual alteration of a past database row changes its hash.</a:t>
            </a:r>
          </a:p>
          <a:p>
            <a:pPr>
              <a:spcAft>
                <a:spcPts val="800"/>
              </a:spcAft>
              <a:defRPr sz="1200">
                <a:solidFill>
                  <a:srgbClr val="94A3B8"/>
                </a:solidFill>
              </a:defRPr>
            </a:pPr>
            <a:r>
              <a:t>•  Invalidates previousHash of all downstream rows.</a:t>
            </a:r>
          </a:p>
          <a:p>
            <a:pPr>
              <a:spcAft>
                <a:spcPts val="800"/>
              </a:spcAft>
              <a:defRPr sz="1200">
                <a:solidFill>
                  <a:srgbClr val="94A3B8"/>
                </a:solidFill>
              </a:defRPr>
            </a:pPr>
            <a:r>
              <a:t>•  One-Click Verifier recalculates the entire chain and flags exact corrupted row.</a:t>
            </a:r>
          </a:p>
        </p:txBody>
      </p:sp>
      <p:sp>
        <p:nvSpPr>
          <p:cNvPr id="11" name="Rounded Rectangle 10"/>
          <p:cNvSpPr/>
          <p:nvPr/>
        </p:nvSpPr>
        <p:spPr>
          <a:xfrm>
            <a:off x="8046720" y="1645920"/>
            <a:ext cx="3291840" cy="4389120"/>
          </a:xfrm>
          <a:prstGeom prst="roundRect">
            <a:avLst/>
          </a:prstGeom>
          <a:solidFill>
            <a:srgbClr val="141C2D"/>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75320" y="1828800"/>
            <a:ext cx="2834640" cy="411480"/>
          </a:xfrm>
          <a:prstGeom prst="rect">
            <a:avLst/>
          </a:prstGeom>
          <a:noFill/>
        </p:spPr>
        <p:txBody>
          <a:bodyPr wrap="square">
            <a:spAutoFit/>
          </a:bodyPr>
          <a:lstStyle/>
          <a:p>
            <a:pPr>
              <a:defRPr sz="1600" b="1">
                <a:solidFill>
                  <a:srgbClr val="38BDF8"/>
                </a:solidFill>
              </a:defRPr>
            </a:pPr>
            <a:r>
              <a:t>Concurrency Safety</a:t>
            </a:r>
          </a:p>
        </p:txBody>
      </p:sp>
      <p:sp>
        <p:nvSpPr>
          <p:cNvPr id="13" name="TextBox 12"/>
          <p:cNvSpPr txBox="1"/>
          <p:nvPr/>
        </p:nvSpPr>
        <p:spPr>
          <a:xfrm>
            <a:off x="8275320" y="2286000"/>
            <a:ext cx="2834640" cy="3611879"/>
          </a:xfrm>
          <a:prstGeom prst="rect">
            <a:avLst/>
          </a:prstGeom>
          <a:noFill/>
        </p:spPr>
        <p:txBody>
          <a:bodyPr wrap="square" tIns="0" lIns="0" rIns="0" bIns="0">
            <a:spAutoFit/>
          </a:bodyPr>
          <a:lstStyle/>
          <a:p>
            <a:pPr>
              <a:spcAft>
                <a:spcPts val="800"/>
              </a:spcAft>
              <a:defRPr sz="1200">
                <a:solidFill>
                  <a:srgbClr val="94A3B8"/>
                </a:solidFill>
              </a:defRPr>
            </a:pPr>
            <a:r>
              <a:t>•  In-process Promise write queue serializes concurrent requests.</a:t>
            </a:r>
          </a:p>
          <a:p>
            <a:pPr>
              <a:spcAft>
                <a:spcPts val="800"/>
              </a:spcAft>
              <a:defRPr sz="1200">
                <a:solidFill>
                  <a:srgbClr val="94A3B8"/>
                </a:solidFill>
              </a:defRPr>
            </a:pPr>
            <a:r>
              <a:t>•  Strictly monotonic millisecond timestamps prevent clock collisions.</a:t>
            </a:r>
          </a:p>
          <a:p>
            <a:pPr>
              <a:spcAft>
                <a:spcPts val="800"/>
              </a:spcAft>
              <a:defRPr sz="1200">
                <a:solidFill>
                  <a:srgbClr val="94A3B8"/>
                </a:solidFill>
              </a:defRPr>
            </a:pPr>
            <a:r>
              <a:t>•  Guarantees deterministic, linear cryptographic audit sequence.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000" b="1">
                <a:solidFill>
                  <a:srgbClr val="10B981"/>
                </a:solidFill>
              </a:defRPr>
            </a:pPr>
            <a:r>
              <a:t>FILE SANITIZATION &amp; DEFENSE-IN-DEPTH</a:t>
            </a:r>
          </a:p>
        </p:txBody>
      </p:sp>
      <p:sp>
        <p:nvSpPr>
          <p:cNvPr id="4" name="TextBox 3"/>
          <p:cNvSpPr txBox="1"/>
          <p:nvPr/>
        </p:nvSpPr>
        <p:spPr>
          <a:xfrm>
            <a:off x="731520" y="640080"/>
            <a:ext cx="10698480" cy="731520"/>
          </a:xfrm>
          <a:prstGeom prst="rect">
            <a:avLst/>
          </a:prstGeom>
          <a:noFill/>
        </p:spPr>
        <p:txBody>
          <a:bodyPr wrap="square">
            <a:spAutoFit/>
          </a:bodyPr>
          <a:lstStyle/>
          <a:p>
            <a:pPr>
              <a:defRPr sz="2600" b="1">
                <a:solidFill>
                  <a:srgbClr val="F1F5F9"/>
                </a:solidFill>
              </a:defRPr>
            </a:pPr>
            <a:r>
              <a:t>Deep Binary Inspection on Server Ingress</a:t>
            </a:r>
          </a:p>
        </p:txBody>
      </p:sp>
      <p:sp>
        <p:nvSpPr>
          <p:cNvPr id="5" name="Rounded Rectangle 4"/>
          <p:cNvSpPr/>
          <p:nvPr/>
        </p:nvSpPr>
        <p:spPr>
          <a:xfrm>
            <a:off x="731520" y="1645920"/>
            <a:ext cx="3291840" cy="4389120"/>
          </a:xfrm>
          <a:prstGeom prst="roundRect">
            <a:avLst/>
          </a:prstGeom>
          <a:solidFill>
            <a:srgbClr val="141C2D"/>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2834640" cy="411480"/>
          </a:xfrm>
          <a:prstGeom prst="rect">
            <a:avLst/>
          </a:prstGeom>
          <a:noFill/>
        </p:spPr>
        <p:txBody>
          <a:bodyPr wrap="square">
            <a:spAutoFit/>
          </a:bodyPr>
          <a:lstStyle/>
          <a:p>
            <a:pPr>
              <a:defRPr sz="1600" b="1">
                <a:solidFill>
                  <a:srgbClr val="F43F5E"/>
                </a:solidFill>
              </a:defRPr>
            </a:pPr>
            <a:r>
              <a:t>The Polyglot Threat</a:t>
            </a:r>
          </a:p>
        </p:txBody>
      </p:sp>
      <p:sp>
        <p:nvSpPr>
          <p:cNvPr id="7" name="TextBox 6"/>
          <p:cNvSpPr txBox="1"/>
          <p:nvPr/>
        </p:nvSpPr>
        <p:spPr>
          <a:xfrm>
            <a:off x="960120" y="2286000"/>
            <a:ext cx="2834640" cy="3611879"/>
          </a:xfrm>
          <a:prstGeom prst="rect">
            <a:avLst/>
          </a:prstGeom>
          <a:noFill/>
        </p:spPr>
        <p:txBody>
          <a:bodyPr wrap="square" tIns="0" lIns="0" rIns="0" bIns="0">
            <a:spAutoFit/>
          </a:bodyPr>
          <a:lstStyle/>
          <a:p>
            <a:pPr>
              <a:spcAft>
                <a:spcPts val="800"/>
              </a:spcAft>
              <a:defRPr sz="1200">
                <a:solidFill>
                  <a:srgbClr val="94A3B8"/>
                </a:solidFill>
              </a:defRPr>
            </a:pPr>
            <a:r>
              <a:t>•  Attackers rename executable malware (.exe) to .pdf or .png.</a:t>
            </a:r>
          </a:p>
          <a:p>
            <a:pPr>
              <a:spcAft>
                <a:spcPts val="800"/>
              </a:spcAft>
              <a:defRPr sz="1200">
                <a:solidFill>
                  <a:srgbClr val="94A3B8"/>
                </a:solidFill>
              </a:defRPr>
            </a:pPr>
            <a:r>
              <a:t>•  Extension-only checks accept malicious executables.</a:t>
            </a:r>
          </a:p>
          <a:p>
            <a:pPr>
              <a:spcAft>
                <a:spcPts val="800"/>
              </a:spcAft>
              <a:defRPr sz="1200">
                <a:solidFill>
                  <a:srgbClr val="94A3B8"/>
                </a:solidFill>
              </a:defRPr>
            </a:pPr>
            <a:r>
              <a:t>•  Can lead to remote server execution or client drive-by infection.</a:t>
            </a:r>
          </a:p>
        </p:txBody>
      </p:sp>
      <p:sp>
        <p:nvSpPr>
          <p:cNvPr id="8" name="Rounded Rectangle 7"/>
          <p:cNvSpPr/>
          <p:nvPr/>
        </p:nvSpPr>
        <p:spPr>
          <a:xfrm>
            <a:off x="4389120" y="1645920"/>
            <a:ext cx="3291840" cy="4389120"/>
          </a:xfrm>
          <a:prstGeom prst="roundRect">
            <a:avLst/>
          </a:prstGeom>
          <a:solidFill>
            <a:srgbClr val="141C2D"/>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17720" y="1828800"/>
            <a:ext cx="2834640" cy="411480"/>
          </a:xfrm>
          <a:prstGeom prst="rect">
            <a:avLst/>
          </a:prstGeom>
          <a:noFill/>
        </p:spPr>
        <p:txBody>
          <a:bodyPr wrap="square">
            <a:spAutoFit/>
          </a:bodyPr>
          <a:lstStyle/>
          <a:p>
            <a:pPr>
              <a:defRPr sz="1600" b="1">
                <a:solidFill>
                  <a:srgbClr val="10B981"/>
                </a:solidFill>
              </a:defRPr>
            </a:pPr>
            <a:r>
              <a:t>Header Hex Sniffing</a:t>
            </a:r>
          </a:p>
        </p:txBody>
      </p:sp>
      <p:sp>
        <p:nvSpPr>
          <p:cNvPr id="10" name="TextBox 9"/>
          <p:cNvSpPr txBox="1"/>
          <p:nvPr/>
        </p:nvSpPr>
        <p:spPr>
          <a:xfrm>
            <a:off x="4617720" y="2286000"/>
            <a:ext cx="2834640" cy="3611879"/>
          </a:xfrm>
          <a:prstGeom prst="rect">
            <a:avLst/>
          </a:prstGeom>
          <a:noFill/>
        </p:spPr>
        <p:txBody>
          <a:bodyPr wrap="square" tIns="0" lIns="0" rIns="0" bIns="0">
            <a:spAutoFit/>
          </a:bodyPr>
          <a:lstStyle/>
          <a:p>
            <a:pPr>
              <a:spcAft>
                <a:spcPts val="800"/>
              </a:spcAft>
              <a:defRPr sz="1200">
                <a:solidFill>
                  <a:srgbClr val="94A3B8"/>
                </a:solidFill>
              </a:defRPr>
            </a:pPr>
            <a:r>
              <a:t>•  PDF: Validates %PDF- signature (hex: 25 50 44 46).</a:t>
            </a:r>
          </a:p>
          <a:p>
            <a:pPr>
              <a:spcAft>
                <a:spcPts val="800"/>
              </a:spcAft>
              <a:defRPr sz="1200">
                <a:solidFill>
                  <a:srgbClr val="94A3B8"/>
                </a:solidFill>
              </a:defRPr>
            </a:pPr>
            <a:r>
              <a:t>•  PNG: Validates \x89PNG header (hex: 89 50 4e 47).</a:t>
            </a:r>
          </a:p>
          <a:p>
            <a:pPr>
              <a:spcAft>
                <a:spcPts val="800"/>
              </a:spcAft>
              <a:defRPr sz="1200">
                <a:solidFill>
                  <a:srgbClr val="94A3B8"/>
                </a:solidFill>
              </a:defRPr>
            </a:pPr>
            <a:r>
              <a:t>•  JPEG: Validates SOI header (hex: ff d8 ff).</a:t>
            </a:r>
          </a:p>
          <a:p>
            <a:pPr>
              <a:spcAft>
                <a:spcPts val="800"/>
              </a:spcAft>
              <a:defRPr sz="1200">
                <a:solidFill>
                  <a:srgbClr val="94A3B8"/>
                </a:solidFill>
              </a:defRPr>
            </a:pPr>
            <a:r>
              <a:t>•  DOCX/XLSX: Validates OpenXML PK archive (50 4b 03 04).</a:t>
            </a:r>
          </a:p>
        </p:txBody>
      </p:sp>
      <p:sp>
        <p:nvSpPr>
          <p:cNvPr id="11" name="Rounded Rectangle 10"/>
          <p:cNvSpPr/>
          <p:nvPr/>
        </p:nvSpPr>
        <p:spPr>
          <a:xfrm>
            <a:off x="8046720" y="1645920"/>
            <a:ext cx="3291840" cy="4389120"/>
          </a:xfrm>
          <a:prstGeom prst="roundRect">
            <a:avLst/>
          </a:prstGeom>
          <a:solidFill>
            <a:srgbClr val="141C2D"/>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75320" y="1828800"/>
            <a:ext cx="2834640" cy="411480"/>
          </a:xfrm>
          <a:prstGeom prst="rect">
            <a:avLst/>
          </a:prstGeom>
          <a:noFill/>
        </p:spPr>
        <p:txBody>
          <a:bodyPr wrap="square">
            <a:spAutoFit/>
          </a:bodyPr>
          <a:lstStyle/>
          <a:p>
            <a:pPr>
              <a:defRPr sz="1600" b="1">
                <a:solidFill>
                  <a:srgbClr val="38BDF8"/>
                </a:solidFill>
              </a:defRPr>
            </a:pPr>
            <a:r>
              <a:t>Strict Enforcement</a:t>
            </a:r>
          </a:p>
        </p:txBody>
      </p:sp>
      <p:sp>
        <p:nvSpPr>
          <p:cNvPr id="13" name="TextBox 12"/>
          <p:cNvSpPr txBox="1"/>
          <p:nvPr/>
        </p:nvSpPr>
        <p:spPr>
          <a:xfrm>
            <a:off x="8275320" y="2286000"/>
            <a:ext cx="2834640" cy="3611879"/>
          </a:xfrm>
          <a:prstGeom prst="rect">
            <a:avLst/>
          </a:prstGeom>
          <a:noFill/>
        </p:spPr>
        <p:txBody>
          <a:bodyPr wrap="square" tIns="0" lIns="0" rIns="0" bIns="0">
            <a:spAutoFit/>
          </a:bodyPr>
          <a:lstStyle/>
          <a:p>
            <a:pPr>
              <a:spcAft>
                <a:spcPts val="800"/>
              </a:spcAft>
              <a:defRPr sz="1200">
                <a:solidFill>
                  <a:srgbClr val="94A3B8"/>
                </a:solidFill>
              </a:defRPr>
            </a:pPr>
            <a:r>
              <a:t>•  Text/CSV inspected for null bytes to reject binary payloads.</a:t>
            </a:r>
          </a:p>
          <a:p>
            <a:pPr>
              <a:spcAft>
                <a:spcPts val="800"/>
              </a:spcAft>
              <a:defRPr sz="1200">
                <a:solidFill>
                  <a:srgbClr val="94A3B8"/>
                </a:solidFill>
              </a:defRPr>
            </a:pPr>
            <a:r>
              <a:t>•  Strict 10MB file size ceiling enforced on raw buffer.</a:t>
            </a:r>
          </a:p>
          <a:p>
            <a:pPr>
              <a:spcAft>
                <a:spcPts val="800"/>
              </a:spcAft>
              <a:defRPr sz="1200">
                <a:solidFill>
                  <a:srgbClr val="94A3B8"/>
                </a:solidFill>
              </a:defRPr>
            </a:pPr>
            <a:r>
              <a:t>•  Files saved with random UUID keys (doc_&lt;uuid&gt;.&lt;ext&gt;).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000" b="1">
                <a:solidFill>
                  <a:srgbClr val="10B981"/>
                </a:solidFill>
              </a:defRPr>
            </a:pPr>
            <a:r>
              <a:t>COMPLIANCE &amp; REPORTING</a:t>
            </a:r>
          </a:p>
        </p:txBody>
      </p:sp>
      <p:sp>
        <p:nvSpPr>
          <p:cNvPr id="4" name="TextBox 3"/>
          <p:cNvSpPr txBox="1"/>
          <p:nvPr/>
        </p:nvSpPr>
        <p:spPr>
          <a:xfrm>
            <a:off x="731520" y="640080"/>
            <a:ext cx="10698480" cy="731520"/>
          </a:xfrm>
          <a:prstGeom prst="rect">
            <a:avLst/>
          </a:prstGeom>
          <a:noFill/>
        </p:spPr>
        <p:txBody>
          <a:bodyPr wrap="square">
            <a:spAutoFit/>
          </a:bodyPr>
          <a:lstStyle/>
          <a:p>
            <a:pPr>
              <a:defRPr sz="2600" b="1">
                <a:solidFill>
                  <a:srgbClr val="F1F5F9"/>
                </a:solidFill>
              </a:defRPr>
            </a:pPr>
            <a:r>
              <a:t>Multi-Tenant Scoped Compliance Center</a:t>
            </a:r>
          </a:p>
        </p:txBody>
      </p:sp>
      <p:sp>
        <p:nvSpPr>
          <p:cNvPr id="5" name="Rounded Rectangle 4"/>
          <p:cNvSpPr/>
          <p:nvPr/>
        </p:nvSpPr>
        <p:spPr>
          <a:xfrm>
            <a:off x="731520" y="1645920"/>
            <a:ext cx="3291840" cy="4389120"/>
          </a:xfrm>
          <a:prstGeom prst="roundRect">
            <a:avLst/>
          </a:prstGeom>
          <a:solidFill>
            <a:srgbClr val="141C2D"/>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2834640" cy="411480"/>
          </a:xfrm>
          <a:prstGeom prst="rect">
            <a:avLst/>
          </a:prstGeom>
          <a:noFill/>
        </p:spPr>
        <p:txBody>
          <a:bodyPr wrap="square">
            <a:spAutoFit/>
          </a:bodyPr>
          <a:lstStyle/>
          <a:p>
            <a:pPr>
              <a:defRPr sz="1600" b="1">
                <a:solidFill>
                  <a:srgbClr val="38BDF8"/>
                </a:solidFill>
              </a:defRPr>
            </a:pPr>
            <a:r>
              <a:t>Two-Phase Download Auditing</a:t>
            </a:r>
          </a:p>
        </p:txBody>
      </p:sp>
      <p:sp>
        <p:nvSpPr>
          <p:cNvPr id="7" name="TextBox 6"/>
          <p:cNvSpPr txBox="1"/>
          <p:nvPr/>
        </p:nvSpPr>
        <p:spPr>
          <a:xfrm>
            <a:off x="960120" y="2286000"/>
            <a:ext cx="2834640" cy="3611879"/>
          </a:xfrm>
          <a:prstGeom prst="rect">
            <a:avLst/>
          </a:prstGeom>
          <a:noFill/>
        </p:spPr>
        <p:txBody>
          <a:bodyPr wrap="square" tIns="0" lIns="0" rIns="0" bIns="0">
            <a:spAutoFit/>
          </a:bodyPr>
          <a:lstStyle/>
          <a:p>
            <a:pPr>
              <a:spcAft>
                <a:spcPts val="800"/>
              </a:spcAft>
              <a:defRPr sz="1200">
                <a:solidFill>
                  <a:srgbClr val="94A3B8"/>
                </a:solidFill>
              </a:defRPr>
            </a:pPr>
            <a:r>
              <a:t>•  Phase 1: DOCUMENT_DOWNLOAD_INITIATED logged when 60s URL is generated.</a:t>
            </a:r>
          </a:p>
          <a:p>
            <a:pPr>
              <a:spcAft>
                <a:spcPts val="800"/>
              </a:spcAft>
              <a:defRPr sz="1200">
                <a:solidFill>
                  <a:srgbClr val="94A3B8"/>
                </a:solidFill>
              </a:defRPr>
            </a:pPr>
            <a:r>
              <a:t>•  Phase 2: DOCUMENT_STREAM_COMPLETED logged when bytes are transferred.</a:t>
            </a:r>
          </a:p>
          <a:p>
            <a:pPr>
              <a:spcAft>
                <a:spcPts val="800"/>
              </a:spcAft>
              <a:defRPr sz="1200">
                <a:solidFill>
                  <a:srgbClr val="94A3B8"/>
                </a:solidFill>
              </a:defRPr>
            </a:pPr>
            <a:r>
              <a:t>•  Captures actor, target, IP address, file size, and timestamp.</a:t>
            </a:r>
          </a:p>
        </p:txBody>
      </p:sp>
      <p:sp>
        <p:nvSpPr>
          <p:cNvPr id="8" name="Rounded Rectangle 7"/>
          <p:cNvSpPr/>
          <p:nvPr/>
        </p:nvSpPr>
        <p:spPr>
          <a:xfrm>
            <a:off x="4389120" y="1645920"/>
            <a:ext cx="3291840" cy="4389120"/>
          </a:xfrm>
          <a:prstGeom prst="roundRect">
            <a:avLst/>
          </a:prstGeom>
          <a:solidFill>
            <a:srgbClr val="141C2D"/>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17720" y="1828800"/>
            <a:ext cx="2834640" cy="411480"/>
          </a:xfrm>
          <a:prstGeom prst="rect">
            <a:avLst/>
          </a:prstGeom>
          <a:noFill/>
        </p:spPr>
        <p:txBody>
          <a:bodyPr wrap="square">
            <a:spAutoFit/>
          </a:bodyPr>
          <a:lstStyle/>
          <a:p>
            <a:pPr>
              <a:defRPr sz="1600" b="1">
                <a:solidFill>
                  <a:srgbClr val="10B981"/>
                </a:solidFill>
              </a:defRPr>
            </a:pPr>
            <a:r>
              <a:t>Multi-Tenant Isolation</a:t>
            </a:r>
          </a:p>
        </p:txBody>
      </p:sp>
      <p:sp>
        <p:nvSpPr>
          <p:cNvPr id="10" name="TextBox 9"/>
          <p:cNvSpPr txBox="1"/>
          <p:nvPr/>
        </p:nvSpPr>
        <p:spPr>
          <a:xfrm>
            <a:off x="4617720" y="2286000"/>
            <a:ext cx="2834640" cy="3611879"/>
          </a:xfrm>
          <a:prstGeom prst="rect">
            <a:avLst/>
          </a:prstGeom>
          <a:noFill/>
        </p:spPr>
        <p:txBody>
          <a:bodyPr wrap="square" tIns="0" lIns="0" rIns="0" bIns="0">
            <a:spAutoFit/>
          </a:bodyPr>
          <a:lstStyle/>
          <a:p>
            <a:pPr>
              <a:spcAft>
                <a:spcPts val="800"/>
              </a:spcAft>
              <a:defRPr sz="1200">
                <a:solidFill>
                  <a:srgbClr val="94A3B8"/>
                </a:solidFill>
              </a:defRPr>
            </a:pPr>
            <a:r>
              <a:t>•  Owner sees logs and reports strictly for their owned documents.</a:t>
            </a:r>
          </a:p>
          <a:p>
            <a:pPr>
              <a:spcAft>
                <a:spcPts val="800"/>
              </a:spcAft>
              <a:defRPr sz="1200">
                <a:solidFill>
                  <a:srgbClr val="94A3B8"/>
                </a:solidFill>
              </a:defRPr>
            </a:pPr>
            <a:r>
              <a:t>•  Private documents of other Owners are strictly isolated.</a:t>
            </a:r>
          </a:p>
          <a:p>
            <a:pPr>
              <a:spcAft>
                <a:spcPts val="800"/>
              </a:spcAft>
              <a:defRPr sz="1200">
                <a:solidFill>
                  <a:srgbClr val="94A3B8"/>
                </a:solidFill>
              </a:defRPr>
            </a:pPr>
            <a:r>
              <a:t>•  Admin sees global platform metrics without viewing private document contents.</a:t>
            </a:r>
          </a:p>
        </p:txBody>
      </p:sp>
      <p:sp>
        <p:nvSpPr>
          <p:cNvPr id="11" name="Rounded Rectangle 10"/>
          <p:cNvSpPr/>
          <p:nvPr/>
        </p:nvSpPr>
        <p:spPr>
          <a:xfrm>
            <a:off x="8046720" y="1645920"/>
            <a:ext cx="3291840" cy="4389120"/>
          </a:xfrm>
          <a:prstGeom prst="roundRect">
            <a:avLst/>
          </a:prstGeom>
          <a:solidFill>
            <a:srgbClr val="141C2D"/>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75320" y="1828800"/>
            <a:ext cx="2834640" cy="411480"/>
          </a:xfrm>
          <a:prstGeom prst="rect">
            <a:avLst/>
          </a:prstGeom>
          <a:noFill/>
        </p:spPr>
        <p:txBody>
          <a:bodyPr wrap="square">
            <a:spAutoFit/>
          </a:bodyPr>
          <a:lstStyle/>
          <a:p>
            <a:pPr>
              <a:defRPr sz="1600" b="1">
                <a:solidFill>
                  <a:srgbClr val="38BDF8"/>
                </a:solidFill>
              </a:defRPr>
            </a:pPr>
            <a:r>
              <a:t>Executive Metrics &amp; Analytics</a:t>
            </a:r>
          </a:p>
        </p:txBody>
      </p:sp>
      <p:sp>
        <p:nvSpPr>
          <p:cNvPr id="13" name="TextBox 12"/>
          <p:cNvSpPr txBox="1"/>
          <p:nvPr/>
        </p:nvSpPr>
        <p:spPr>
          <a:xfrm>
            <a:off x="8275320" y="2286000"/>
            <a:ext cx="2834640" cy="3611879"/>
          </a:xfrm>
          <a:prstGeom prst="rect">
            <a:avLst/>
          </a:prstGeom>
          <a:noFill/>
        </p:spPr>
        <p:txBody>
          <a:bodyPr wrap="square" tIns="0" lIns="0" rIns="0" bIns="0">
            <a:spAutoFit/>
          </a:bodyPr>
          <a:lstStyle/>
          <a:p>
            <a:pPr>
              <a:spcAft>
                <a:spcPts val="800"/>
              </a:spcAft>
              <a:defRPr sz="1200">
                <a:solidFill>
                  <a:srgbClr val="94A3B8"/>
                </a:solidFill>
              </a:defRPr>
            </a:pPr>
            <a:r>
              <a:t>•  Daily activity timeline charts (uploads, downloads, views, blocked probes).</a:t>
            </a:r>
          </a:p>
          <a:p>
            <a:pPr>
              <a:spcAft>
                <a:spcPts val="800"/>
              </a:spcAft>
              <a:defRPr sz="1200">
                <a:solidFill>
                  <a:srgbClr val="94A3B8"/>
                </a:solidFill>
              </a:defRPr>
            </a:pPr>
            <a:r>
              <a:t>•  Detailed document access history with unique viewer counts.</a:t>
            </a:r>
          </a:p>
          <a:p>
            <a:pPr>
              <a:spcAft>
                <a:spcPts val="800"/>
              </a:spcAft>
              <a:defRPr sz="1200">
                <a:solidFill>
                  <a:srgbClr val="94A3B8"/>
                </a:solidFill>
              </a:defRPr>
            </a:pPr>
            <a:r>
              <a:t>•  Security incident summaries tracking blocked IDOR attempts.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000" b="1">
                <a:solidFill>
                  <a:srgbClr val="10B981"/>
                </a:solidFill>
              </a:defRPr>
            </a:pPr>
            <a:r>
              <a:t>AI GOVERNANCE &amp; SAFETY</a:t>
            </a:r>
          </a:p>
        </p:txBody>
      </p:sp>
      <p:sp>
        <p:nvSpPr>
          <p:cNvPr id="4" name="TextBox 3"/>
          <p:cNvSpPr txBox="1"/>
          <p:nvPr/>
        </p:nvSpPr>
        <p:spPr>
          <a:xfrm>
            <a:off x="731520" y="640080"/>
            <a:ext cx="10698480" cy="731520"/>
          </a:xfrm>
          <a:prstGeom prst="rect">
            <a:avLst/>
          </a:prstGeom>
          <a:noFill/>
        </p:spPr>
        <p:txBody>
          <a:bodyPr wrap="square">
            <a:spAutoFit/>
          </a:bodyPr>
          <a:lstStyle/>
          <a:p>
            <a:pPr>
              <a:defRPr sz="2600" b="1">
                <a:solidFill>
                  <a:srgbClr val="F1F5F9"/>
                </a:solidFill>
              </a:defRPr>
            </a:pPr>
            <a:r>
              <a:t>Least-Privilege AI Assistant with Zero Autonomous Write</a:t>
            </a:r>
          </a:p>
        </p:txBody>
      </p:sp>
      <p:sp>
        <p:nvSpPr>
          <p:cNvPr id="5" name="Rounded Rectangle 4"/>
          <p:cNvSpPr/>
          <p:nvPr/>
        </p:nvSpPr>
        <p:spPr>
          <a:xfrm>
            <a:off x="731520" y="1645920"/>
            <a:ext cx="3291840" cy="4389120"/>
          </a:xfrm>
          <a:prstGeom prst="roundRect">
            <a:avLst/>
          </a:prstGeom>
          <a:solidFill>
            <a:srgbClr val="141C2D"/>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2834640" cy="411480"/>
          </a:xfrm>
          <a:prstGeom prst="rect">
            <a:avLst/>
          </a:prstGeom>
          <a:noFill/>
        </p:spPr>
        <p:txBody>
          <a:bodyPr wrap="square">
            <a:spAutoFit/>
          </a:bodyPr>
          <a:lstStyle/>
          <a:p>
            <a:pPr>
              <a:defRPr sz="1600" b="1">
                <a:solidFill>
                  <a:srgbClr val="38BDF8"/>
                </a:solidFill>
              </a:defRPr>
            </a:pPr>
            <a:r>
              <a:t>AI Role &amp; Heuristics</a:t>
            </a:r>
          </a:p>
        </p:txBody>
      </p:sp>
      <p:sp>
        <p:nvSpPr>
          <p:cNvPr id="7" name="TextBox 6"/>
          <p:cNvSpPr txBox="1"/>
          <p:nvPr/>
        </p:nvSpPr>
        <p:spPr>
          <a:xfrm>
            <a:off x="960120" y="2286000"/>
            <a:ext cx="2834640" cy="3611879"/>
          </a:xfrm>
          <a:prstGeom prst="rect">
            <a:avLst/>
          </a:prstGeom>
          <a:noFill/>
        </p:spPr>
        <p:txBody>
          <a:bodyPr wrap="square" tIns="0" lIns="0" rIns="0" bIns="0">
            <a:spAutoFit/>
          </a:bodyPr>
          <a:lstStyle/>
          <a:p>
            <a:pPr>
              <a:spcAft>
                <a:spcPts val="800"/>
              </a:spcAft>
              <a:defRPr sz="1200">
                <a:solidFill>
                  <a:srgbClr val="94A3B8"/>
                </a:solidFill>
              </a:defRPr>
            </a:pPr>
            <a:r>
              <a:t>•  Evaluates document classification and title (e.g., 'Finance' category).</a:t>
            </a:r>
          </a:p>
          <a:p>
            <a:pPr>
              <a:spcAft>
                <a:spcPts val="800"/>
              </a:spcAft>
              <a:defRPr sz="1200">
                <a:solidFill>
                  <a:srgbClr val="94A3B8"/>
                </a:solidFill>
              </a:defRPr>
            </a:pPr>
            <a:r>
              <a:t>•  Identifies candidate reviewers matching least-privilege role profiles.</a:t>
            </a:r>
          </a:p>
          <a:p>
            <a:pPr>
              <a:spcAft>
                <a:spcPts val="800"/>
              </a:spcAft>
              <a:defRPr sz="1200">
                <a:solidFill>
                  <a:srgbClr val="94A3B8"/>
                </a:solidFill>
              </a:defRPr>
            </a:pPr>
            <a:r>
              <a:t>•  Generates confidence scores and audit justifications.</a:t>
            </a:r>
          </a:p>
        </p:txBody>
      </p:sp>
      <p:sp>
        <p:nvSpPr>
          <p:cNvPr id="8" name="Rounded Rectangle 7"/>
          <p:cNvSpPr/>
          <p:nvPr/>
        </p:nvSpPr>
        <p:spPr>
          <a:xfrm>
            <a:off x="4389120" y="1645920"/>
            <a:ext cx="3291840" cy="4389120"/>
          </a:xfrm>
          <a:prstGeom prst="roundRect">
            <a:avLst/>
          </a:prstGeom>
          <a:solidFill>
            <a:srgbClr val="141C2D"/>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17720" y="1828800"/>
            <a:ext cx="2834640" cy="411480"/>
          </a:xfrm>
          <a:prstGeom prst="rect">
            <a:avLst/>
          </a:prstGeom>
          <a:noFill/>
        </p:spPr>
        <p:txBody>
          <a:bodyPr wrap="square">
            <a:spAutoFit/>
          </a:bodyPr>
          <a:lstStyle/>
          <a:p>
            <a:pPr>
              <a:defRPr sz="1600" b="1">
                <a:solidFill>
                  <a:srgbClr val="F43F5E"/>
                </a:solidFill>
              </a:defRPr>
            </a:pPr>
            <a:r>
              <a:t>Strict Safety Guardrail</a:t>
            </a:r>
          </a:p>
        </p:txBody>
      </p:sp>
      <p:sp>
        <p:nvSpPr>
          <p:cNvPr id="10" name="TextBox 9"/>
          <p:cNvSpPr txBox="1"/>
          <p:nvPr/>
        </p:nvSpPr>
        <p:spPr>
          <a:xfrm>
            <a:off x="4617720" y="2286000"/>
            <a:ext cx="2834640" cy="3611879"/>
          </a:xfrm>
          <a:prstGeom prst="rect">
            <a:avLst/>
          </a:prstGeom>
          <a:noFill/>
        </p:spPr>
        <p:txBody>
          <a:bodyPr wrap="square" tIns="0" lIns="0" rIns="0" bIns="0">
            <a:spAutoFit/>
          </a:bodyPr>
          <a:lstStyle/>
          <a:p>
            <a:pPr>
              <a:spcAft>
                <a:spcPts val="800"/>
              </a:spcAft>
              <a:defRPr sz="1200">
                <a:solidFill>
                  <a:srgbClr val="94A3B8"/>
                </a:solidFill>
              </a:defRPr>
            </a:pPr>
            <a:r>
              <a:t>•  Zero database write authority. Cannot grant permissions autonomously.</a:t>
            </a:r>
          </a:p>
          <a:p>
            <a:pPr>
              <a:spcAft>
                <a:spcPts val="800"/>
              </a:spcAft>
              <a:defRPr sz="1200">
                <a:solidFill>
                  <a:srgbClr val="94A3B8"/>
                </a:solidFill>
              </a:defRPr>
            </a:pPr>
            <a:r>
              <a:t>•  Mitigates OWASP LLM Excessive Agency (LLM06).</a:t>
            </a:r>
          </a:p>
          <a:p>
            <a:pPr>
              <a:spcAft>
                <a:spcPts val="800"/>
              </a:spcAft>
              <a:defRPr sz="1200">
                <a:solidFill>
                  <a:srgbClr val="94A3B8"/>
                </a:solidFill>
              </a:defRPr>
            </a:pPr>
            <a:r>
              <a:t>•  Mandatory human owner confirmation required to commit permissions.</a:t>
            </a:r>
          </a:p>
        </p:txBody>
      </p:sp>
      <p:sp>
        <p:nvSpPr>
          <p:cNvPr id="11" name="Rounded Rectangle 10"/>
          <p:cNvSpPr/>
          <p:nvPr/>
        </p:nvSpPr>
        <p:spPr>
          <a:xfrm>
            <a:off x="8046720" y="1645920"/>
            <a:ext cx="3291840" cy="4389120"/>
          </a:xfrm>
          <a:prstGeom prst="roundRect">
            <a:avLst/>
          </a:prstGeom>
          <a:solidFill>
            <a:srgbClr val="141C2D"/>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75320" y="1828800"/>
            <a:ext cx="2834640" cy="411480"/>
          </a:xfrm>
          <a:prstGeom prst="rect">
            <a:avLst/>
          </a:prstGeom>
          <a:noFill/>
        </p:spPr>
        <p:txBody>
          <a:bodyPr wrap="square">
            <a:spAutoFit/>
          </a:bodyPr>
          <a:lstStyle/>
          <a:p>
            <a:pPr>
              <a:defRPr sz="1600" b="1">
                <a:solidFill>
                  <a:srgbClr val="10B981"/>
                </a:solidFill>
              </a:defRPr>
            </a:pPr>
            <a:r>
              <a:t>Dual Audit Accountability</a:t>
            </a:r>
          </a:p>
        </p:txBody>
      </p:sp>
      <p:sp>
        <p:nvSpPr>
          <p:cNvPr id="13" name="TextBox 12"/>
          <p:cNvSpPr txBox="1"/>
          <p:nvPr/>
        </p:nvSpPr>
        <p:spPr>
          <a:xfrm>
            <a:off x="8275320" y="2286000"/>
            <a:ext cx="2834640" cy="3611879"/>
          </a:xfrm>
          <a:prstGeom prst="rect">
            <a:avLst/>
          </a:prstGeom>
          <a:noFill/>
        </p:spPr>
        <p:txBody>
          <a:bodyPr wrap="square" tIns="0" lIns="0" rIns="0" bIns="0">
            <a:spAutoFit/>
          </a:bodyPr>
          <a:lstStyle/>
          <a:p>
            <a:pPr>
              <a:spcAft>
                <a:spcPts val="800"/>
              </a:spcAft>
              <a:defRPr sz="1200">
                <a:solidFill>
                  <a:srgbClr val="94A3B8"/>
                </a:solidFill>
              </a:defRPr>
            </a:pPr>
            <a:r>
              <a:t>•  AI_PERMISSION_SUGGESTION_GENERATED logged to audit chain.</a:t>
            </a:r>
          </a:p>
          <a:p>
            <a:pPr>
              <a:spcAft>
                <a:spcPts val="800"/>
              </a:spcAft>
              <a:defRPr sz="1200">
                <a:solidFill>
                  <a:srgbClr val="94A3B8"/>
                </a:solidFill>
              </a:defRPr>
            </a:pPr>
            <a:r>
              <a:t>•  AI_PERMISSION_CONFIRMED_BY_HUMAN logged with owner ID.</a:t>
            </a:r>
          </a:p>
          <a:p>
            <a:pPr>
              <a:spcAft>
                <a:spcPts val="800"/>
              </a:spcAft>
              <a:defRPr sz="1200">
                <a:solidFill>
                  <a:srgbClr val="94A3B8"/>
                </a:solidFill>
              </a:defRPr>
            </a:pPr>
            <a:r>
              <a:t>•  Creates complete accountability trail for regulatory compliance.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000" b="1">
                <a:solidFill>
                  <a:srgbClr val="10B981"/>
                </a:solidFill>
              </a:defRPr>
            </a:pPr>
            <a:r>
              <a:t>VERIFICATION &amp; TESTING HARNESS</a:t>
            </a:r>
          </a:p>
        </p:txBody>
      </p:sp>
      <p:sp>
        <p:nvSpPr>
          <p:cNvPr id="4" name="TextBox 3"/>
          <p:cNvSpPr txBox="1"/>
          <p:nvPr/>
        </p:nvSpPr>
        <p:spPr>
          <a:xfrm>
            <a:off x="731520" y="640080"/>
            <a:ext cx="10698480" cy="731520"/>
          </a:xfrm>
          <a:prstGeom prst="rect">
            <a:avLst/>
          </a:prstGeom>
          <a:noFill/>
        </p:spPr>
        <p:txBody>
          <a:bodyPr wrap="square">
            <a:spAutoFit/>
          </a:bodyPr>
          <a:lstStyle/>
          <a:p>
            <a:pPr>
              <a:defRPr sz="2600" b="1">
                <a:solidFill>
                  <a:srgbClr val="F1F5F9"/>
                </a:solidFill>
              </a:defRPr>
            </a:pPr>
            <a:r>
              <a:t>100% Automated Security Test Suite (36/36 Passing)</a:t>
            </a:r>
          </a:p>
        </p:txBody>
      </p:sp>
      <p:sp>
        <p:nvSpPr>
          <p:cNvPr id="5" name="Rounded Rectangle 4"/>
          <p:cNvSpPr/>
          <p:nvPr/>
        </p:nvSpPr>
        <p:spPr>
          <a:xfrm>
            <a:off x="731520" y="1645920"/>
            <a:ext cx="3291840" cy="4389120"/>
          </a:xfrm>
          <a:prstGeom prst="roundRect">
            <a:avLst/>
          </a:prstGeom>
          <a:solidFill>
            <a:srgbClr val="141C2D"/>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2834640" cy="411480"/>
          </a:xfrm>
          <a:prstGeom prst="rect">
            <a:avLst/>
          </a:prstGeom>
          <a:noFill/>
        </p:spPr>
        <p:txBody>
          <a:bodyPr wrap="square">
            <a:spAutoFit/>
          </a:bodyPr>
          <a:lstStyle/>
          <a:p>
            <a:pPr>
              <a:defRPr sz="1600" b="1">
                <a:solidFill>
                  <a:srgbClr val="10B981"/>
                </a:solidFill>
              </a:defRPr>
            </a:pPr>
            <a:r>
              <a:t>Test Suite Breakdown</a:t>
            </a:r>
          </a:p>
        </p:txBody>
      </p:sp>
      <p:sp>
        <p:nvSpPr>
          <p:cNvPr id="7" name="TextBox 6"/>
          <p:cNvSpPr txBox="1"/>
          <p:nvPr/>
        </p:nvSpPr>
        <p:spPr>
          <a:xfrm>
            <a:off x="960120" y="2286000"/>
            <a:ext cx="2834640" cy="3611879"/>
          </a:xfrm>
          <a:prstGeom prst="rect">
            <a:avLst/>
          </a:prstGeom>
          <a:noFill/>
        </p:spPr>
        <p:txBody>
          <a:bodyPr wrap="square" tIns="0" lIns="0" rIns="0" bIns="0">
            <a:spAutoFit/>
          </a:bodyPr>
          <a:lstStyle/>
          <a:p>
            <a:pPr>
              <a:spcAft>
                <a:spcPts val="800"/>
              </a:spcAft>
              <a:defRPr sz="1200">
                <a:solidFill>
                  <a:srgbClr val="94A3B8"/>
                </a:solidFill>
              </a:defRPr>
            </a:pPr>
            <a:r>
              <a:t>•  owner-audit-reports.test.ts: 10 tests (scoping &amp; isolation).</a:t>
            </a:r>
          </a:p>
          <a:p>
            <a:pPr>
              <a:spcAft>
                <a:spcPts val="800"/>
              </a:spcAft>
              <a:defRPr sz="1200">
                <a:solidFill>
                  <a:srgbClr val="94A3B8"/>
                </a:solidFill>
              </a:defRPr>
            </a:pPr>
            <a:r>
              <a:t>•  authorization-boundaries.test.ts: 9 tests (IDOR &amp; 403 blocks).</a:t>
            </a:r>
          </a:p>
          <a:p>
            <a:pPr>
              <a:spcAft>
                <a:spcPts val="800"/>
              </a:spcAft>
              <a:defRPr sz="1200">
                <a:solidFill>
                  <a:srgbClr val="94A3B8"/>
                </a:solidFill>
              </a:defRPr>
            </a:pPr>
            <a:r>
              <a:t>•  admin-delegation-flow.test.ts: 7 tests (canShare rules).</a:t>
            </a:r>
          </a:p>
          <a:p>
            <a:pPr>
              <a:spcAft>
                <a:spcPts val="800"/>
              </a:spcAft>
              <a:defRPr sz="1200">
                <a:solidFill>
                  <a:srgbClr val="94A3B8"/>
                </a:solidFill>
              </a:defRPr>
            </a:pPr>
            <a:r>
              <a:t>•  file-validation-magic-bytes.test.ts: 6 tests (header sniffing).</a:t>
            </a:r>
          </a:p>
          <a:p>
            <a:pPr>
              <a:spcAft>
                <a:spcPts val="800"/>
              </a:spcAft>
              <a:defRPr sz="1200">
                <a:solidFill>
                  <a:srgbClr val="94A3B8"/>
                </a:solidFill>
              </a:defRPr>
            </a:pPr>
            <a:r>
              <a:t>•  audit-tamper-chain.test.ts: 2 tests (SHA-256 detection).</a:t>
            </a:r>
          </a:p>
          <a:p>
            <a:pPr>
              <a:spcAft>
                <a:spcPts val="800"/>
              </a:spcAft>
              <a:defRPr sz="1200">
                <a:solidFill>
                  <a:srgbClr val="94A3B8"/>
                </a:solidFill>
              </a:defRPr>
            </a:pPr>
            <a:r>
              <a:t>•  ai-safety-constraint.test.ts: 2 tests (zero write authority).</a:t>
            </a:r>
          </a:p>
        </p:txBody>
      </p:sp>
      <p:sp>
        <p:nvSpPr>
          <p:cNvPr id="8" name="Rounded Rectangle 7"/>
          <p:cNvSpPr/>
          <p:nvPr/>
        </p:nvSpPr>
        <p:spPr>
          <a:xfrm>
            <a:off x="4389120" y="1645920"/>
            <a:ext cx="3291840" cy="4389120"/>
          </a:xfrm>
          <a:prstGeom prst="roundRect">
            <a:avLst/>
          </a:prstGeom>
          <a:solidFill>
            <a:srgbClr val="141C2D"/>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17720" y="1828800"/>
            <a:ext cx="2834640" cy="411480"/>
          </a:xfrm>
          <a:prstGeom prst="rect">
            <a:avLst/>
          </a:prstGeom>
          <a:noFill/>
        </p:spPr>
        <p:txBody>
          <a:bodyPr wrap="square">
            <a:spAutoFit/>
          </a:bodyPr>
          <a:lstStyle/>
          <a:p>
            <a:pPr>
              <a:defRPr sz="1600" b="1">
                <a:solidFill>
                  <a:srgbClr val="38BDF8"/>
                </a:solidFill>
              </a:defRPr>
            </a:pPr>
            <a:r>
              <a:t>Key Verified Scenarios</a:t>
            </a:r>
          </a:p>
        </p:txBody>
      </p:sp>
      <p:sp>
        <p:nvSpPr>
          <p:cNvPr id="10" name="TextBox 9"/>
          <p:cNvSpPr txBox="1"/>
          <p:nvPr/>
        </p:nvSpPr>
        <p:spPr>
          <a:xfrm>
            <a:off x="4617720" y="2286000"/>
            <a:ext cx="2834640" cy="3611879"/>
          </a:xfrm>
          <a:prstGeom prst="rect">
            <a:avLst/>
          </a:prstGeom>
          <a:noFill/>
        </p:spPr>
        <p:txBody>
          <a:bodyPr wrap="square" tIns="0" lIns="0" rIns="0" bIns="0">
            <a:spAutoFit/>
          </a:bodyPr>
          <a:lstStyle/>
          <a:p>
            <a:pPr>
              <a:spcAft>
                <a:spcPts val="800"/>
              </a:spcAft>
              <a:defRPr sz="1200">
                <a:solidFill>
                  <a:srgbClr val="94A3B8"/>
                </a:solidFill>
              </a:defRPr>
            </a:pPr>
            <a:r>
              <a:t>•  Unauthorized IDOR probes return 403 and write BLOCKED audit log.</a:t>
            </a:r>
          </a:p>
          <a:p>
            <a:pPr>
              <a:spcAft>
                <a:spcPts val="800"/>
              </a:spcAft>
              <a:defRPr sz="1200">
                <a:solidFill>
                  <a:srgbClr val="94A3B8"/>
                </a:solidFill>
              </a:defRPr>
            </a:pPr>
            <a:r>
              <a:t>•  Instant revocation terminates downloads in under 10 milliseconds.</a:t>
            </a:r>
          </a:p>
          <a:p>
            <a:pPr>
              <a:spcAft>
                <a:spcPts val="800"/>
              </a:spcAft>
              <a:defRPr sz="1200">
                <a:solidFill>
                  <a:srgbClr val="94A3B8"/>
                </a:solidFill>
              </a:defRPr>
            </a:pPr>
            <a:r>
              <a:t>•  Simulated database tampering immediately breaks hash chain.</a:t>
            </a:r>
          </a:p>
          <a:p>
            <a:pPr>
              <a:spcAft>
                <a:spcPts val="800"/>
              </a:spcAft>
              <a:defRPr sz="1200">
                <a:solidFill>
                  <a:srgbClr val="94A3B8"/>
                </a:solidFill>
              </a:defRPr>
            </a:pPr>
            <a:r>
              <a:t>•  Disguised PE executables rejected with invalid signature.</a:t>
            </a:r>
          </a:p>
        </p:txBody>
      </p:sp>
      <p:sp>
        <p:nvSpPr>
          <p:cNvPr id="11" name="Rounded Rectangle 10"/>
          <p:cNvSpPr/>
          <p:nvPr/>
        </p:nvSpPr>
        <p:spPr>
          <a:xfrm>
            <a:off x="8046720" y="1645920"/>
            <a:ext cx="3291840" cy="4389120"/>
          </a:xfrm>
          <a:prstGeom prst="roundRect">
            <a:avLst/>
          </a:prstGeom>
          <a:solidFill>
            <a:srgbClr val="141C2D"/>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75320" y="1828800"/>
            <a:ext cx="2834640" cy="411480"/>
          </a:xfrm>
          <a:prstGeom prst="rect">
            <a:avLst/>
          </a:prstGeom>
          <a:noFill/>
        </p:spPr>
        <p:txBody>
          <a:bodyPr wrap="square">
            <a:spAutoFit/>
          </a:bodyPr>
          <a:lstStyle/>
          <a:p>
            <a:pPr>
              <a:defRPr sz="1600" b="1">
                <a:solidFill>
                  <a:srgbClr val="10B981"/>
                </a:solidFill>
              </a:defRPr>
            </a:pPr>
            <a:r>
              <a:t>Interactive Test Switcher</a:t>
            </a:r>
          </a:p>
        </p:txBody>
      </p:sp>
      <p:sp>
        <p:nvSpPr>
          <p:cNvPr id="13" name="TextBox 12"/>
          <p:cNvSpPr txBox="1"/>
          <p:nvPr/>
        </p:nvSpPr>
        <p:spPr>
          <a:xfrm>
            <a:off x="8275320" y="2286000"/>
            <a:ext cx="2834640" cy="3611879"/>
          </a:xfrm>
          <a:prstGeom prst="rect">
            <a:avLst/>
          </a:prstGeom>
          <a:noFill/>
        </p:spPr>
        <p:txBody>
          <a:bodyPr wrap="square" tIns="0" lIns="0" rIns="0" bIns="0">
            <a:spAutoFit/>
          </a:bodyPr>
          <a:lstStyle/>
          <a:p>
            <a:pPr>
              <a:spcAft>
                <a:spcPts val="800"/>
              </a:spcAft>
              <a:defRPr sz="1200">
                <a:solidFill>
                  <a:srgbClr val="94A3B8"/>
                </a:solidFill>
              </a:defRPr>
            </a:pPr>
            <a:r>
              <a:t>•  Navbar includes 1-click test credential switcher.</a:t>
            </a:r>
          </a:p>
          <a:p>
            <a:pPr>
              <a:spcAft>
                <a:spcPts val="800"/>
              </a:spcAft>
              <a:defRPr sz="1200">
                <a:solidFill>
                  <a:srgbClr val="94A3B8"/>
                </a:solidFill>
              </a:defRPr>
            </a:pPr>
            <a:r>
              <a:t>•  Test as Admin, Owner, Permitted Viewer, or Unauthorized user.</a:t>
            </a:r>
          </a:p>
          <a:p>
            <a:pPr>
              <a:spcAft>
                <a:spcPts val="800"/>
              </a:spcAft>
              <a:defRPr sz="1200">
                <a:solidFill>
                  <a:srgbClr val="94A3B8"/>
                </a:solidFill>
              </a:defRPr>
            </a:pPr>
            <a:r>
              <a:t>•  Dedicated 'Test IDOR Probe' button on dashboard for live demos.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000" b="1">
                <a:solidFill>
                  <a:srgbClr val="10B981"/>
                </a:solidFill>
              </a:defRPr>
            </a:pPr>
            <a:r>
              <a:t>LIMITATIONS &amp; ENGINEERING ROADMAP</a:t>
            </a:r>
          </a:p>
        </p:txBody>
      </p:sp>
      <p:sp>
        <p:nvSpPr>
          <p:cNvPr id="4" name="TextBox 3"/>
          <p:cNvSpPr txBox="1"/>
          <p:nvPr/>
        </p:nvSpPr>
        <p:spPr>
          <a:xfrm>
            <a:off x="731520" y="640080"/>
            <a:ext cx="10698480" cy="731520"/>
          </a:xfrm>
          <a:prstGeom prst="rect">
            <a:avLst/>
          </a:prstGeom>
          <a:noFill/>
        </p:spPr>
        <p:txBody>
          <a:bodyPr wrap="square">
            <a:spAutoFit/>
          </a:bodyPr>
          <a:lstStyle/>
          <a:p>
            <a:pPr>
              <a:defRPr sz="2600" b="1">
                <a:solidFill>
                  <a:srgbClr val="F1F5F9"/>
                </a:solidFill>
              </a:defRPr>
            </a:pPr>
            <a:r>
              <a:t>Engineering Boundaries &amp; Future Enhancements</a:t>
            </a:r>
          </a:p>
        </p:txBody>
      </p:sp>
      <p:sp>
        <p:nvSpPr>
          <p:cNvPr id="5" name="Rounded Rectangle 4"/>
          <p:cNvSpPr/>
          <p:nvPr/>
        </p:nvSpPr>
        <p:spPr>
          <a:xfrm>
            <a:off x="731520" y="1645920"/>
            <a:ext cx="3291840" cy="4389120"/>
          </a:xfrm>
          <a:prstGeom prst="roundRect">
            <a:avLst/>
          </a:prstGeom>
          <a:solidFill>
            <a:srgbClr val="141C2D"/>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2834640" cy="411480"/>
          </a:xfrm>
          <a:prstGeom prst="rect">
            <a:avLst/>
          </a:prstGeom>
          <a:noFill/>
        </p:spPr>
        <p:txBody>
          <a:bodyPr wrap="square">
            <a:spAutoFit/>
          </a:bodyPr>
          <a:lstStyle/>
          <a:p>
            <a:pPr>
              <a:defRPr sz="1600" b="1">
                <a:solidFill>
                  <a:srgbClr val="F43F5E"/>
                </a:solidFill>
              </a:defRPr>
            </a:pPr>
            <a:r>
              <a:t>Current Limitations</a:t>
            </a:r>
          </a:p>
        </p:txBody>
      </p:sp>
      <p:sp>
        <p:nvSpPr>
          <p:cNvPr id="7" name="TextBox 6"/>
          <p:cNvSpPr txBox="1"/>
          <p:nvPr/>
        </p:nvSpPr>
        <p:spPr>
          <a:xfrm>
            <a:off x="960120" y="2286000"/>
            <a:ext cx="2834640" cy="3611879"/>
          </a:xfrm>
          <a:prstGeom prst="rect">
            <a:avLst/>
          </a:prstGeom>
          <a:noFill/>
        </p:spPr>
        <p:txBody>
          <a:bodyPr wrap="square" tIns="0" lIns="0" rIns="0" bIns="0">
            <a:spAutoFit/>
          </a:bodyPr>
          <a:lstStyle/>
          <a:p>
            <a:pPr>
              <a:spcAft>
                <a:spcPts val="800"/>
              </a:spcAft>
              <a:defRPr sz="1200">
                <a:solidFill>
                  <a:srgbClr val="94A3B8"/>
                </a:solidFill>
              </a:defRPr>
            </a:pPr>
            <a:r>
              <a:t>•  In-process Promise write queue is single-node only.</a:t>
            </a:r>
          </a:p>
          <a:p>
            <a:pPr>
              <a:spcAft>
                <a:spcPts val="800"/>
              </a:spcAft>
              <a:defRPr sz="1200">
                <a:solidFill>
                  <a:srgbClr val="94A3B8"/>
                </a:solidFill>
              </a:defRPr>
            </a:pPr>
            <a:r>
              <a:t>•  Local storage driver relies on OS-level filesystem encryption at rest.</a:t>
            </a:r>
          </a:p>
          <a:p>
            <a:pPr>
              <a:spcAft>
                <a:spcPts val="800"/>
              </a:spcAft>
              <a:defRPr sz="1200">
                <a:solidFill>
                  <a:srgbClr val="94A3B8"/>
                </a:solidFill>
              </a:defRPr>
            </a:pPr>
            <a:r>
              <a:t>•  PostgreSQL Row-Level Security policies require production PostgreSQL.</a:t>
            </a:r>
          </a:p>
        </p:txBody>
      </p:sp>
      <p:sp>
        <p:nvSpPr>
          <p:cNvPr id="8" name="Rounded Rectangle 7"/>
          <p:cNvSpPr/>
          <p:nvPr/>
        </p:nvSpPr>
        <p:spPr>
          <a:xfrm>
            <a:off x="4389120" y="1645920"/>
            <a:ext cx="3291840" cy="4389120"/>
          </a:xfrm>
          <a:prstGeom prst="roundRect">
            <a:avLst/>
          </a:prstGeom>
          <a:solidFill>
            <a:srgbClr val="141C2D"/>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17720" y="1828800"/>
            <a:ext cx="2834640" cy="411480"/>
          </a:xfrm>
          <a:prstGeom prst="rect">
            <a:avLst/>
          </a:prstGeom>
          <a:noFill/>
        </p:spPr>
        <p:txBody>
          <a:bodyPr wrap="square">
            <a:spAutoFit/>
          </a:bodyPr>
          <a:lstStyle/>
          <a:p>
            <a:pPr>
              <a:defRPr sz="1600" b="1">
                <a:solidFill>
                  <a:srgbClr val="38BDF8"/>
                </a:solidFill>
              </a:defRPr>
            </a:pPr>
            <a:r>
              <a:t>Future Architectural Goals</a:t>
            </a:r>
          </a:p>
        </p:txBody>
      </p:sp>
      <p:sp>
        <p:nvSpPr>
          <p:cNvPr id="10" name="TextBox 9"/>
          <p:cNvSpPr txBox="1"/>
          <p:nvPr/>
        </p:nvSpPr>
        <p:spPr>
          <a:xfrm>
            <a:off x="4617720" y="2286000"/>
            <a:ext cx="2834640" cy="3611879"/>
          </a:xfrm>
          <a:prstGeom prst="rect">
            <a:avLst/>
          </a:prstGeom>
          <a:noFill/>
        </p:spPr>
        <p:txBody>
          <a:bodyPr wrap="square" tIns="0" lIns="0" rIns="0" bIns="0">
            <a:spAutoFit/>
          </a:bodyPr>
          <a:lstStyle/>
          <a:p>
            <a:pPr>
              <a:spcAft>
                <a:spcPts val="800"/>
              </a:spcAft>
              <a:defRPr sz="1200">
                <a:solidFill>
                  <a:srgbClr val="94A3B8"/>
                </a:solidFill>
              </a:defRPr>
            </a:pPr>
            <a:r>
              <a:t>•  Distributed Redis mutex (Redlock) for multi-node horizontal scaling.</a:t>
            </a:r>
          </a:p>
          <a:p>
            <a:pPr>
              <a:spcAft>
                <a:spcPts val="800"/>
              </a:spcAft>
              <a:defRPr sz="1200">
                <a:solidFill>
                  <a:srgbClr val="94A3B8"/>
                </a:solidFill>
              </a:defRPr>
            </a:pPr>
            <a:r>
              <a:t>•  Client-side in-browser WebCrypto envelope encryption before upload.</a:t>
            </a:r>
          </a:p>
          <a:p>
            <a:pPr>
              <a:spcAft>
                <a:spcPts val="800"/>
              </a:spcAft>
              <a:defRPr sz="1200">
                <a:solidFill>
                  <a:srgbClr val="94A3B8"/>
                </a:solidFill>
              </a:defRPr>
            </a:pPr>
            <a:r>
              <a:t>•  Multi-Factor Authentication (MFA / TOTP) via authenticator apps.</a:t>
            </a:r>
          </a:p>
          <a:p>
            <a:pPr>
              <a:spcAft>
                <a:spcPts val="800"/>
              </a:spcAft>
              <a:defRPr sz="1200">
                <a:solidFill>
                  <a:srgbClr val="94A3B8"/>
                </a:solidFill>
              </a:defRPr>
            </a:pPr>
            <a:r>
              <a:t>•  SIEM webhook integrations with Splunk and Datadog.</a:t>
            </a:r>
          </a:p>
        </p:txBody>
      </p:sp>
      <p:sp>
        <p:nvSpPr>
          <p:cNvPr id="11" name="Rounded Rectangle 10"/>
          <p:cNvSpPr/>
          <p:nvPr/>
        </p:nvSpPr>
        <p:spPr>
          <a:xfrm>
            <a:off x="8046720" y="1645920"/>
            <a:ext cx="3291840" cy="4389120"/>
          </a:xfrm>
          <a:prstGeom prst="roundRect">
            <a:avLst/>
          </a:prstGeom>
          <a:solidFill>
            <a:srgbClr val="141C2D"/>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75320" y="1828800"/>
            <a:ext cx="2834640" cy="411480"/>
          </a:xfrm>
          <a:prstGeom prst="rect">
            <a:avLst/>
          </a:prstGeom>
          <a:noFill/>
        </p:spPr>
        <p:txBody>
          <a:bodyPr wrap="square">
            <a:spAutoFit/>
          </a:bodyPr>
          <a:lstStyle/>
          <a:p>
            <a:pPr>
              <a:defRPr sz="1600" b="1">
                <a:solidFill>
                  <a:srgbClr val="10B981"/>
                </a:solidFill>
              </a:defRPr>
            </a:pPr>
            <a:r>
              <a:t>Academic Rigor</a:t>
            </a:r>
          </a:p>
        </p:txBody>
      </p:sp>
      <p:sp>
        <p:nvSpPr>
          <p:cNvPr id="13" name="TextBox 12"/>
          <p:cNvSpPr txBox="1"/>
          <p:nvPr/>
        </p:nvSpPr>
        <p:spPr>
          <a:xfrm>
            <a:off x="8275320" y="2286000"/>
            <a:ext cx="2834640" cy="3611879"/>
          </a:xfrm>
          <a:prstGeom prst="rect">
            <a:avLst/>
          </a:prstGeom>
          <a:noFill/>
        </p:spPr>
        <p:txBody>
          <a:bodyPr wrap="square" tIns="0" lIns="0" rIns="0" bIns="0">
            <a:spAutoFit/>
          </a:bodyPr>
          <a:lstStyle/>
          <a:p>
            <a:pPr>
              <a:spcAft>
                <a:spcPts val="800"/>
              </a:spcAft>
              <a:defRPr sz="1200">
                <a:solidFill>
                  <a:srgbClr val="94A3B8"/>
                </a:solidFill>
              </a:defRPr>
            </a:pPr>
            <a:r>
              <a:t>•  Full STRIDE and OWASP threat models documented in THREATS.md.</a:t>
            </a:r>
          </a:p>
          <a:p>
            <a:pPr>
              <a:spcAft>
                <a:spcPts val="800"/>
              </a:spcAft>
              <a:defRPr sz="1200">
                <a:solidFill>
                  <a:srgbClr val="94A3B8"/>
                </a:solidFill>
              </a:defRPr>
            </a:pPr>
            <a:r>
              <a:t>•  Complete separation of concerns between control plane and data plane.</a:t>
            </a:r>
          </a:p>
          <a:p>
            <a:pPr>
              <a:spcAft>
                <a:spcPts val="800"/>
              </a:spcAft>
              <a:defRPr sz="1200">
                <a:solidFill>
                  <a:srgbClr val="94A3B8"/>
                </a:solidFill>
              </a:defRPr>
            </a:pPr>
            <a:r>
              <a:t>•  Production deployment guides for Cloudflare R2 and AWS S3.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000" b="1">
                <a:solidFill>
                  <a:srgbClr val="10B981"/>
                </a:solidFill>
              </a:defRPr>
            </a:pPr>
            <a:r>
              <a:t>FINAL SUMMARY &amp; CONCLUSION</a:t>
            </a:r>
          </a:p>
        </p:txBody>
      </p:sp>
      <p:sp>
        <p:nvSpPr>
          <p:cNvPr id="4" name="TextBox 3"/>
          <p:cNvSpPr txBox="1"/>
          <p:nvPr/>
        </p:nvSpPr>
        <p:spPr>
          <a:xfrm>
            <a:off x="731520" y="640080"/>
            <a:ext cx="10698480" cy="731520"/>
          </a:xfrm>
          <a:prstGeom prst="rect">
            <a:avLst/>
          </a:prstGeom>
          <a:noFill/>
        </p:spPr>
        <p:txBody>
          <a:bodyPr wrap="square">
            <a:spAutoFit/>
          </a:bodyPr>
          <a:lstStyle/>
          <a:p>
            <a:pPr>
              <a:defRPr sz="2600" b="1">
                <a:solidFill>
                  <a:srgbClr val="F1F5F9"/>
                </a:solidFill>
              </a:defRPr>
            </a:pPr>
            <a:r>
              <a:t>TrustVault 🛡️ — Key Takeaways</a:t>
            </a:r>
          </a:p>
        </p:txBody>
      </p:sp>
      <p:sp>
        <p:nvSpPr>
          <p:cNvPr id="5" name="Rounded Rectangle 4"/>
          <p:cNvSpPr/>
          <p:nvPr/>
        </p:nvSpPr>
        <p:spPr>
          <a:xfrm>
            <a:off x="731520" y="1645920"/>
            <a:ext cx="3291840" cy="4389120"/>
          </a:xfrm>
          <a:prstGeom prst="roundRect">
            <a:avLst/>
          </a:prstGeom>
          <a:solidFill>
            <a:srgbClr val="141C2D"/>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2834640" cy="411480"/>
          </a:xfrm>
          <a:prstGeom prst="rect">
            <a:avLst/>
          </a:prstGeom>
          <a:noFill/>
        </p:spPr>
        <p:txBody>
          <a:bodyPr wrap="square">
            <a:spAutoFit/>
          </a:bodyPr>
          <a:lstStyle/>
          <a:p>
            <a:pPr>
              <a:defRPr sz="1600" b="1">
                <a:solidFill>
                  <a:srgbClr val="10B981"/>
                </a:solidFill>
              </a:defRPr>
            </a:pPr>
            <a:r>
              <a:t>Zero-Leak Architecture</a:t>
            </a:r>
          </a:p>
        </p:txBody>
      </p:sp>
      <p:sp>
        <p:nvSpPr>
          <p:cNvPr id="7" name="TextBox 6"/>
          <p:cNvSpPr txBox="1"/>
          <p:nvPr/>
        </p:nvSpPr>
        <p:spPr>
          <a:xfrm>
            <a:off x="960120" y="2286000"/>
            <a:ext cx="2834640" cy="3611879"/>
          </a:xfrm>
          <a:prstGeom prst="rect">
            <a:avLst/>
          </a:prstGeom>
          <a:noFill/>
        </p:spPr>
        <p:txBody>
          <a:bodyPr wrap="square" tIns="0" lIns="0" rIns="0" bIns="0">
            <a:spAutoFit/>
          </a:bodyPr>
          <a:lstStyle/>
          <a:p>
            <a:pPr>
              <a:spcAft>
                <a:spcPts val="800"/>
              </a:spcAft>
              <a:defRPr sz="1200">
                <a:solidFill>
                  <a:srgbClr val="94A3B8"/>
                </a:solidFill>
              </a:defRPr>
            </a:pPr>
            <a:r>
              <a:t>•  Every single file access request executes live database authorization.</a:t>
            </a:r>
          </a:p>
          <a:p>
            <a:pPr>
              <a:spcAft>
                <a:spcPts val="800"/>
              </a:spcAft>
              <a:defRPr sz="1200">
                <a:solidFill>
                  <a:srgbClr val="94A3B8"/>
                </a:solidFill>
              </a:defRPr>
            </a:pPr>
            <a:r>
              <a:t>•  Instant revocation works in 0 milliseconds without caching latency.</a:t>
            </a:r>
          </a:p>
          <a:p>
            <a:pPr>
              <a:spcAft>
                <a:spcPts val="800"/>
              </a:spcAft>
              <a:defRPr sz="1200">
                <a:solidFill>
                  <a:srgbClr val="94A3B8"/>
                </a:solidFill>
              </a:defRPr>
            </a:pPr>
            <a:r>
              <a:t>•  Completely private storage with 60-second timed download links.</a:t>
            </a:r>
          </a:p>
        </p:txBody>
      </p:sp>
      <p:sp>
        <p:nvSpPr>
          <p:cNvPr id="8" name="Rounded Rectangle 7"/>
          <p:cNvSpPr/>
          <p:nvPr/>
        </p:nvSpPr>
        <p:spPr>
          <a:xfrm>
            <a:off x="4389120" y="1645920"/>
            <a:ext cx="3291840" cy="4389120"/>
          </a:xfrm>
          <a:prstGeom prst="roundRect">
            <a:avLst/>
          </a:prstGeom>
          <a:solidFill>
            <a:srgbClr val="141C2D"/>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17720" y="1828800"/>
            <a:ext cx="2834640" cy="411480"/>
          </a:xfrm>
          <a:prstGeom prst="rect">
            <a:avLst/>
          </a:prstGeom>
          <a:noFill/>
        </p:spPr>
        <p:txBody>
          <a:bodyPr wrap="square">
            <a:spAutoFit/>
          </a:bodyPr>
          <a:lstStyle/>
          <a:p>
            <a:pPr>
              <a:defRPr sz="1600" b="1">
                <a:solidFill>
                  <a:srgbClr val="38BDF8"/>
                </a:solidFill>
              </a:defRPr>
            </a:pPr>
            <a:r>
              <a:t>True Data Custodianship</a:t>
            </a:r>
          </a:p>
        </p:txBody>
      </p:sp>
      <p:sp>
        <p:nvSpPr>
          <p:cNvPr id="10" name="TextBox 9"/>
          <p:cNvSpPr txBox="1"/>
          <p:nvPr/>
        </p:nvSpPr>
        <p:spPr>
          <a:xfrm>
            <a:off x="4617720" y="2286000"/>
            <a:ext cx="2834640" cy="3611879"/>
          </a:xfrm>
          <a:prstGeom prst="rect">
            <a:avLst/>
          </a:prstGeom>
          <a:noFill/>
        </p:spPr>
        <p:txBody>
          <a:bodyPr wrap="square" tIns="0" lIns="0" rIns="0" bIns="0">
            <a:spAutoFit/>
          </a:bodyPr>
          <a:lstStyle/>
          <a:p>
            <a:pPr>
              <a:spcAft>
                <a:spcPts val="800"/>
              </a:spcAft>
              <a:defRPr sz="1200">
                <a:solidFill>
                  <a:srgbClr val="94A3B8"/>
                </a:solidFill>
              </a:defRPr>
            </a:pPr>
            <a:r>
              <a:t>•  Document Owner retains absolute sovereignty over confidential files.</a:t>
            </a:r>
          </a:p>
          <a:p>
            <a:pPr>
              <a:spcAft>
                <a:spcPts val="800"/>
              </a:spcAft>
              <a:defRPr sz="1200">
                <a:solidFill>
                  <a:srgbClr val="94A3B8"/>
                </a:solidFill>
              </a:defRPr>
            </a:pPr>
            <a:r>
              <a:t>•  No IT Administrator can view or delegate files without explicit Owner grant.</a:t>
            </a:r>
          </a:p>
          <a:p>
            <a:pPr>
              <a:spcAft>
                <a:spcPts val="800"/>
              </a:spcAft>
              <a:defRPr sz="1200">
                <a:solidFill>
                  <a:srgbClr val="94A3B8"/>
                </a:solidFill>
              </a:defRPr>
            </a:pPr>
            <a:r>
              <a:t>•  Multi-tenant isolation for all audit logs and compliance reports.</a:t>
            </a:r>
          </a:p>
        </p:txBody>
      </p:sp>
      <p:sp>
        <p:nvSpPr>
          <p:cNvPr id="11" name="Rounded Rectangle 10"/>
          <p:cNvSpPr/>
          <p:nvPr/>
        </p:nvSpPr>
        <p:spPr>
          <a:xfrm>
            <a:off x="8046720" y="1645920"/>
            <a:ext cx="3291840" cy="4389120"/>
          </a:xfrm>
          <a:prstGeom prst="roundRect">
            <a:avLst/>
          </a:prstGeom>
          <a:solidFill>
            <a:srgbClr val="141C2D"/>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75320" y="1828800"/>
            <a:ext cx="2834640" cy="411480"/>
          </a:xfrm>
          <a:prstGeom prst="rect">
            <a:avLst/>
          </a:prstGeom>
          <a:noFill/>
        </p:spPr>
        <p:txBody>
          <a:bodyPr wrap="square">
            <a:spAutoFit/>
          </a:bodyPr>
          <a:lstStyle/>
          <a:p>
            <a:pPr>
              <a:defRPr sz="1600" b="1">
                <a:solidFill>
                  <a:srgbClr val="10B981"/>
                </a:solidFill>
              </a:defRPr>
            </a:pPr>
            <a:r>
              <a:t>Cryptographic Trust</a:t>
            </a:r>
          </a:p>
        </p:txBody>
      </p:sp>
      <p:sp>
        <p:nvSpPr>
          <p:cNvPr id="13" name="TextBox 12"/>
          <p:cNvSpPr txBox="1"/>
          <p:nvPr/>
        </p:nvSpPr>
        <p:spPr>
          <a:xfrm>
            <a:off x="8275320" y="2286000"/>
            <a:ext cx="2834640" cy="3611879"/>
          </a:xfrm>
          <a:prstGeom prst="rect">
            <a:avLst/>
          </a:prstGeom>
          <a:noFill/>
        </p:spPr>
        <p:txBody>
          <a:bodyPr wrap="square" tIns="0" lIns="0" rIns="0" bIns="0">
            <a:spAutoFit/>
          </a:bodyPr>
          <a:lstStyle/>
          <a:p>
            <a:pPr>
              <a:spcAft>
                <a:spcPts val="800"/>
              </a:spcAft>
              <a:defRPr sz="1200">
                <a:solidFill>
                  <a:srgbClr val="94A3B8"/>
                </a:solidFill>
              </a:defRPr>
            </a:pPr>
            <a:r>
              <a:t>•  Immutable SHA-256 hash chaining detects database tampering.</a:t>
            </a:r>
          </a:p>
          <a:p>
            <a:pPr>
              <a:spcAft>
                <a:spcPts val="800"/>
              </a:spcAft>
              <a:defRPr sz="1200">
                <a:solidFill>
                  <a:srgbClr val="94A3B8"/>
                </a:solidFill>
              </a:defRPr>
            </a:pPr>
            <a:r>
              <a:t>•  Deep binary magic byte sniffing defeats polyglot file masquerading.</a:t>
            </a:r>
          </a:p>
          <a:p>
            <a:pPr>
              <a:spcAft>
                <a:spcPts val="800"/>
              </a:spcAft>
              <a:defRPr sz="1200">
                <a:solidFill>
                  <a:srgbClr val="94A3B8"/>
                </a:solidFill>
              </a:defRPr>
            </a:pPr>
            <a:r>
              <a:t>•  100% verified by 36 automated security tests.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